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fntdata" ContentType="application/x-fontdata"/>
  <Default Extension="svg" ContentType="image/svg+xml"/>
  <Default Extension="xlsx" ContentType="application/vnd.openxmlformats-officedocument.spreadsheetml.sheet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lvetica World Bold" panose="020B0604020202020204" charset="-128"/>
      <p:regular r:id="rId10"/>
    </p:embeddedFont>
    <p:embeddedFont>
      <p:font typeface="Helvetica World" panose="020B0604020202020204" charset="-128"/>
      <p:regular r:id="rId11"/>
    </p:embeddedFont>
    <p:embeddedFont>
      <p:font typeface="Calibri (MS) Bold Italics" panose="020B0604020202020204" charset="0"/>
      <p:regular r:id="rId12"/>
    </p:embeddedFont>
    <p:embeddedFont>
      <p:font typeface="League Spartan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strument Serif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2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font" Target="/ppt/fonts/font4.fntdata" Id="rId13" /><Relationship Type="http://schemas.openxmlformats.org/officeDocument/2006/relationships/font" Target="/ppt/fonts/font9.fntdata" Id="rId18" /><Relationship Type="http://schemas.openxmlformats.org/officeDocument/2006/relationships/slide" Target="/ppt/slides/slide2.xml" Id="rId3" /><Relationship Type="http://schemas.openxmlformats.org/officeDocument/2006/relationships/theme" Target="/ppt/theme/theme1.xml" Id="rId21" /><Relationship Type="http://schemas.openxmlformats.org/officeDocument/2006/relationships/slide" Target="/ppt/slides/slide6.xml" Id="rId7" /><Relationship Type="http://schemas.openxmlformats.org/officeDocument/2006/relationships/font" Target="/ppt/fonts/font3.fntdata" Id="rId12" /><Relationship Type="http://schemas.openxmlformats.org/officeDocument/2006/relationships/font" Target="/ppt/fonts/font8.fntdata" Id="rId17" /><Relationship Type="http://schemas.openxmlformats.org/officeDocument/2006/relationships/slide" Target="/ppt/slides/slide1.xml" Id="rId2" /><Relationship Type="http://schemas.openxmlformats.org/officeDocument/2006/relationships/font" Target="/ppt/fonts/font7.fntdata" Id="rId16" /><Relationship Type="http://schemas.openxmlformats.org/officeDocument/2006/relationships/viewProps" Target="/ppt/viewProps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font" Target="/ppt/fonts/font2.fntdata" Id="rId11" /><Relationship Type="http://schemas.openxmlformats.org/officeDocument/2006/relationships/slide" Target="/ppt/slides/slide4.xml" Id="rId5" /><Relationship Type="http://schemas.openxmlformats.org/officeDocument/2006/relationships/font" Target="/ppt/fonts/font6.fntdata" Id="rId15" /><Relationship Type="http://schemas.openxmlformats.org/officeDocument/2006/relationships/font" Target="/ppt/fonts/font1.fntdata" Id="rId10" /><Relationship Type="http://schemas.openxmlformats.org/officeDocument/2006/relationships/presProps" Target="/ppt/presProps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font" Target="/ppt/fonts/font5.fntdata" Id="rId14" /><Relationship Type="http://schemas.openxmlformats.org/officeDocument/2006/relationships/tableStyles" Target="/ppt/tableStyles.xml" Id="rId22" /></Relationships>
</file>

<file path=ppt/charts/_rels/chart1.xml.rels>&#65279;<?xml version="1.0" encoding="utf-8"?><Relationships xmlns="http://schemas.openxmlformats.org/package/2006/relationships"><Relationship Type="http://schemas.openxmlformats.org/officeDocument/2006/relationships/package" Target="/ppt/embeddings/Microsoft_Excel_Worksheet.xlsx" Id="rId1" /></Relationships>
</file>

<file path=ppt/charts/_rels/chart2.xml.rels>&#65279;<?xml version="1.0" encoding="utf-8"?><Relationships xmlns="http://schemas.openxmlformats.org/package/2006/relationships"><Relationship Type="http://schemas.openxmlformats.org/officeDocument/2006/relationships/package" Target="/ppt/embeddings/Microsoft_Excel_Worksheet1.xlsx" Id="rId1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8877974398428866E-2"/>
          <c:y val="5.0793519092233966E-2"/>
          <c:w val="0.92808118157527608"/>
          <c:h val="0.681256976498627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 w="31750">
              <a:solidFill>
                <a:srgbClr val="6E2AF5"/>
              </a:solidFill>
            </a:ln>
          </c:spPr>
          <c:cat>
            <c:strRef>
              <c:f>Sheet1!$A$2:$A$14</c:f>
              <c:strCache>
                <c:ptCount val="13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45</c:v>
                </c:pt>
                <c:pt idx="2">
                  <c:v>120</c:v>
                </c:pt>
                <c:pt idx="3">
                  <c:v>185</c:v>
                </c:pt>
                <c:pt idx="4">
                  <c:v>200</c:v>
                </c:pt>
                <c:pt idx="5">
                  <c:v>195</c:v>
                </c:pt>
                <c:pt idx="6">
                  <c:v>172</c:v>
                </c:pt>
                <c:pt idx="7">
                  <c:v>150</c:v>
                </c:pt>
                <c:pt idx="8">
                  <c:v>124</c:v>
                </c:pt>
                <c:pt idx="9">
                  <c:v>97</c:v>
                </c:pt>
                <c:pt idx="10">
                  <c:v>68</c:v>
                </c:pt>
                <c:pt idx="11">
                  <c:v>38</c:v>
                </c:pt>
                <c:pt idx="1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3F-44FA-B385-637CB46A39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18791784"/>
        <c:crosses val="autoZero"/>
        <c:crossBetween val="between"/>
        <c:majorUnit val="5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 w="31750">
              <a:solidFill>
                <a:srgbClr val="F79646"/>
              </a:solidFill>
            </a:ln>
          </c:spPr>
          <c:cat>
            <c:strRef>
              <c:f>Sheet1!$A$2:$A$14</c:f>
              <c:strCache>
                <c:ptCount val="13"/>
                <c:pt idx="0">
                  <c:v>0s</c:v>
                </c:pt>
                <c:pt idx="1">
                  <c:v>10s</c:v>
                </c:pt>
                <c:pt idx="2">
                  <c:v>20s</c:v>
                </c:pt>
                <c:pt idx="3">
                  <c:v>30s</c:v>
                </c:pt>
                <c:pt idx="4">
                  <c:v>40s</c:v>
                </c:pt>
                <c:pt idx="5">
                  <c:v>50s</c:v>
                </c:pt>
                <c:pt idx="6">
                  <c:v>60s</c:v>
                </c:pt>
                <c:pt idx="7">
                  <c:v>70s</c:v>
                </c:pt>
                <c:pt idx="8">
                  <c:v>80s</c:v>
                </c:pt>
                <c:pt idx="9">
                  <c:v>90s</c:v>
                </c:pt>
                <c:pt idx="10">
                  <c:v>100s</c:v>
                </c:pt>
                <c:pt idx="11">
                  <c:v>110s</c:v>
                </c:pt>
                <c:pt idx="12">
                  <c:v>120s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28.2</c:v>
                </c:pt>
                <c:pt idx="1">
                  <c:v>27.5</c:v>
                </c:pt>
                <c:pt idx="2">
                  <c:v>26.1</c:v>
                </c:pt>
                <c:pt idx="3">
                  <c:v>24.7</c:v>
                </c:pt>
                <c:pt idx="4">
                  <c:v>23.3</c:v>
                </c:pt>
                <c:pt idx="5">
                  <c:v>23.5</c:v>
                </c:pt>
                <c:pt idx="6">
                  <c:v>24.4</c:v>
                </c:pt>
                <c:pt idx="7">
                  <c:v>25.1</c:v>
                </c:pt>
                <c:pt idx="8">
                  <c:v>25.8</c:v>
                </c:pt>
                <c:pt idx="9">
                  <c:v>26.4</c:v>
                </c:pt>
                <c:pt idx="10">
                  <c:v>27</c:v>
                </c:pt>
                <c:pt idx="11">
                  <c:v>27.6</c:v>
                </c:pt>
                <c:pt idx="12">
                  <c:v>28.1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5C-4B2A-9A92-9011A3B007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2"/>
          <c:min val="2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18791784"/>
        <c:crosses val="autoZero"/>
        <c:crossBetween val="between"/>
        <c:majorUnit val="4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7.png" Id="rId8" /><Relationship Type="http://schemas.openxmlformats.org/officeDocument/2006/relationships/image" Target="/ppt/media/image2.png" Id="rId3" /><Relationship Type="http://schemas.openxmlformats.org/officeDocument/2006/relationships/image" Target="/ppt/media/image6.png" Id="rId7" /><Relationship Type="http://schemas.openxmlformats.org/officeDocument/2006/relationships/image" Target="/ppt/media/image10.png" Id="rId12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5.png" Id="rId6" /><Relationship Type="http://schemas.openxmlformats.org/officeDocument/2006/relationships/image" Target="/ppt/media/image9.png" Id="rId11" /><Relationship Type="http://schemas.openxmlformats.org/officeDocument/2006/relationships/image" Target="/ppt/media/image4.png" Id="rId5" /><Relationship Type="http://schemas.openxmlformats.org/officeDocument/2006/relationships/image" Target="/ppt/media/image8.jpg" Id="rId10" /><Relationship Type="http://schemas.openxmlformats.org/officeDocument/2006/relationships/image" Target="/ppt/media/image3.png" Id="rId4" /><Relationship Type="http://schemas.openxmlformats.org/officeDocument/2006/relationships/hyperlink" Target="https://drive.google.com/drive/folders/12sinTi2cqTp08u40LJMLwo98TNp7EeID" TargetMode="External" Id="rI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12.png" Id="rId3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2.png" Id="rId8" /><Relationship Type="http://schemas.openxmlformats.org/officeDocument/2006/relationships/image" Target="/ppt/media/image13.jpg" Id="rId3" /><Relationship Type="http://schemas.openxmlformats.org/officeDocument/2006/relationships/image" Target="/ppt/media/image17.pn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6.png" Id="rId6" /><Relationship Type="http://schemas.openxmlformats.org/officeDocument/2006/relationships/image" Target="/ppt/media/image15.png" Id="rId5" /><Relationship Type="http://schemas.openxmlformats.org/officeDocument/2006/relationships/image" Target="/ppt/media/image14.png" Id="rId4" /><Relationship Type="http://schemas.openxmlformats.org/officeDocument/2006/relationships/image" Target="/ppt/media/image10.png" Id="rI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1.png" Id="rId8" /><Relationship Type="http://schemas.openxmlformats.org/officeDocument/2006/relationships/image" Target="/ppt/media/image26.png" Id="rId13" /><Relationship Type="http://schemas.openxmlformats.org/officeDocument/2006/relationships/image" Target="/ppt/media/image12.png" Id="rId3" /><Relationship Type="http://schemas.openxmlformats.org/officeDocument/2006/relationships/image" Target="/ppt/media/image20.png" Id="rId7" /><Relationship Type="http://schemas.openxmlformats.org/officeDocument/2006/relationships/image" Target="/ppt/media/image25.png" Id="rId12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9.png" Id="rId6" /><Relationship Type="http://schemas.openxmlformats.org/officeDocument/2006/relationships/image" Target="/ppt/media/image24.png" Id="rId11" /><Relationship Type="http://schemas.openxmlformats.org/officeDocument/2006/relationships/image" Target="/ppt/media/image18.jpg" Id="rId5" /><Relationship Type="http://schemas.openxmlformats.org/officeDocument/2006/relationships/image" Target="/ppt/media/image10.png" Id="rId15" /><Relationship Type="http://schemas.openxmlformats.org/officeDocument/2006/relationships/image" Target="/ppt/media/image23.png" Id="rId10" /><Relationship Type="http://schemas.openxmlformats.org/officeDocument/2006/relationships/image" Target="/ppt/media/image18.svg" Id="rId4" /><Relationship Type="http://schemas.openxmlformats.org/officeDocument/2006/relationships/image" Target="/ppt/media/image22.png" Id="rId9" /><Relationship Type="http://schemas.openxmlformats.org/officeDocument/2006/relationships/image" Target="/ppt/media/image27.jpeg" Id="rId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0.png" Id="rId8" /><Relationship Type="http://schemas.openxmlformats.org/officeDocument/2006/relationships/chart" Target="/ppt/charts/chart1.xml" Id="rId3" /><Relationship Type="http://schemas.openxmlformats.org/officeDocument/2006/relationships/image" Target="/ppt/media/image12.pn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9.png" Id="rId6" /><Relationship Type="http://schemas.openxmlformats.org/officeDocument/2006/relationships/image" Target="/ppt/media/image28.png" Id="rId5" /><Relationship Type="http://schemas.openxmlformats.org/officeDocument/2006/relationships/chart" Target="/ppt/charts/chart2.xml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2.png" Id="rId8" /><Relationship Type="http://schemas.openxmlformats.org/officeDocument/2006/relationships/image" Target="/ppt/media/image18.svg" Id="rId3" /><Relationship Type="http://schemas.openxmlformats.org/officeDocument/2006/relationships/image" Target="/ppt/media/image33.jp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2.jpg" Id="rId6" /><Relationship Type="http://schemas.openxmlformats.org/officeDocument/2006/relationships/image" Target="/ppt/media/image31.jpg" Id="rId5" /><Relationship Type="http://schemas.openxmlformats.org/officeDocument/2006/relationships/image" Target="/ppt/media/image30.jpg" Id="rId4" /><Relationship Type="http://schemas.openxmlformats.org/officeDocument/2006/relationships/image" Target="/ppt/media/image10.png" Id="rI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34.jpg" Id="rId3" /><Relationship Type="http://schemas.openxmlformats.org/officeDocument/2006/relationships/image" Target="/ppt/media/image10.pn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png" Id="rId6" /><Relationship Type="http://schemas.openxmlformats.org/officeDocument/2006/relationships/image" Target="/ppt/media/image36.jpg" Id="rId5" /><Relationship Type="http://schemas.openxmlformats.org/officeDocument/2006/relationships/image" Target="/ppt/media/image35.jp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7.png" Id="rId7" /><Relationship Type="http://schemas.openxmlformats.org/officeDocument/2006/relationships/image" Target="/ppt/media/image1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10" /><Relationship Type="http://schemas.openxmlformats.org/officeDocument/2006/relationships/image" Target="/ppt/media/image12.png" Id="rId9" /><Relationship Type="http://schemas.openxmlformats.org/officeDocument/2006/relationships/hyperlink" Target="https://drive.google.com/drive/folders/12sinTi2cqTp08u40LJMLwo98TNp7EeID" TargetMode="External" Id="rId8" /><Relationship Type="http://schemas.openxmlformats.org/officeDocument/2006/relationships/hyperlink" Target="https://www.bosch-sensortec.com/media/boschsensortec/downloads/datasheets/bst-bme280-ds002.pdf" TargetMode="External" Id="rId3" /><Relationship Type="http://schemas.openxmlformats.org/officeDocument/2006/relationships/hyperlink" Target="https://www.semtech.com/products/wireless-rf/lora-transceivers/sx1276" TargetMode="External" Id="rId6" /><Relationship Type="http://schemas.openxmlformats.org/officeDocument/2006/relationships/hyperlink" Target="https://www.pjrc.com/store/teensy41.html" TargetMode="External" Id="rId5" /><Relationship Type="http://schemas.openxmlformats.org/officeDocument/2006/relationships/hyperlink" Target="https://content.u-blox.com/sites/default/files/products/documents/NEO-6_DataSheet_(GPS.G6-HW-09005).pdf" TargetMode="External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87169" y="-705868"/>
            <a:ext cx="21127510" cy="11897429"/>
          </a:xfrm>
          <a:custGeom>
            <a:avLst/>
            <a:gdLst/>
            <a:ahLst/>
            <a:cxnLst/>
            <a:rect l="l" t="t" r="r" b="b"/>
            <a:pathLst>
              <a:path w="21127510" h="11897429">
                <a:moveTo>
                  <a:pt x="0" y="0"/>
                </a:moveTo>
                <a:lnTo>
                  <a:pt x="21127511" y="0"/>
                </a:lnTo>
                <a:lnTo>
                  <a:pt x="21127511" y="11897430"/>
                </a:lnTo>
                <a:lnTo>
                  <a:pt x="0" y="1189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372079" y="3636195"/>
            <a:ext cx="7742727" cy="0"/>
          </a:xfrm>
          <a:prstGeom prst="line">
            <a:avLst/>
          </a:prstGeom>
          <a:ln w="38100" cap="flat">
            <a:solidFill>
              <a:srgbClr val="B58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2372079" y="3495545"/>
            <a:ext cx="811282" cy="224150"/>
            <a:chOff x="0" y="0"/>
            <a:chExt cx="213671" cy="590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671" cy="59035"/>
            </a:xfrm>
            <a:custGeom>
              <a:avLst/>
              <a:gdLst/>
              <a:ahLst/>
              <a:cxnLst/>
              <a:rect l="l" t="t" r="r" b="b"/>
              <a:pathLst>
                <a:path w="213671" h="59035">
                  <a:moveTo>
                    <a:pt x="29518" y="0"/>
                  </a:moveTo>
                  <a:lnTo>
                    <a:pt x="184153" y="0"/>
                  </a:lnTo>
                  <a:cubicBezTo>
                    <a:pt x="191982" y="0"/>
                    <a:pt x="199490" y="3110"/>
                    <a:pt x="205025" y="8646"/>
                  </a:cubicBezTo>
                  <a:cubicBezTo>
                    <a:pt x="210561" y="14181"/>
                    <a:pt x="213671" y="21689"/>
                    <a:pt x="213671" y="29518"/>
                  </a:cubicBezTo>
                  <a:lnTo>
                    <a:pt x="213671" y="29518"/>
                  </a:lnTo>
                  <a:cubicBezTo>
                    <a:pt x="213671" y="37346"/>
                    <a:pt x="210561" y="44854"/>
                    <a:pt x="205025" y="50390"/>
                  </a:cubicBezTo>
                  <a:cubicBezTo>
                    <a:pt x="199490" y="55926"/>
                    <a:pt x="191982" y="59035"/>
                    <a:pt x="184153" y="59035"/>
                  </a:cubicBezTo>
                  <a:lnTo>
                    <a:pt x="29518" y="59035"/>
                  </a:lnTo>
                  <a:cubicBezTo>
                    <a:pt x="21689" y="59035"/>
                    <a:pt x="14181" y="55926"/>
                    <a:pt x="8646" y="50390"/>
                  </a:cubicBezTo>
                  <a:cubicBezTo>
                    <a:pt x="3110" y="44854"/>
                    <a:pt x="0" y="37346"/>
                    <a:pt x="0" y="29518"/>
                  </a:cubicBezTo>
                  <a:lnTo>
                    <a:pt x="0" y="29518"/>
                  </a:lnTo>
                  <a:cubicBezTo>
                    <a:pt x="0" y="21689"/>
                    <a:pt x="3110" y="14181"/>
                    <a:pt x="8646" y="8646"/>
                  </a:cubicBezTo>
                  <a:cubicBezTo>
                    <a:pt x="14181" y="3110"/>
                    <a:pt x="21689" y="0"/>
                    <a:pt x="29518" y="0"/>
                  </a:cubicBezTo>
                  <a:close/>
                </a:path>
              </a:pathLst>
            </a:custGeom>
            <a:solidFill>
              <a:srgbClr val="7771D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3671" cy="1066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71072" y="510137"/>
            <a:ext cx="1690640" cy="90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i="1">
                <a:solidFill>
                  <a:srgbClr val="39ACA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Ignisia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748509" y="515376"/>
            <a:ext cx="923925" cy="981075"/>
            <a:chOff x="0" y="0"/>
            <a:chExt cx="1231900" cy="130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1900" cy="1308100"/>
            </a:xfrm>
            <a:custGeom>
              <a:avLst/>
              <a:gdLst/>
              <a:ahLst/>
              <a:cxnLst/>
              <a:rect l="l" t="t" r="r" b="b"/>
              <a:pathLst>
                <a:path w="1231900" h="1308100">
                  <a:moveTo>
                    <a:pt x="0" y="0"/>
                  </a:moveTo>
                  <a:lnTo>
                    <a:pt x="1231900" y="0"/>
                  </a:lnTo>
                  <a:lnTo>
                    <a:pt x="12319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88" r="-14123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121691" y="314816"/>
            <a:ext cx="2477152" cy="1375374"/>
          </a:xfrm>
          <a:custGeom>
            <a:avLst/>
            <a:gdLst/>
            <a:ahLst/>
            <a:cxnLst/>
            <a:rect l="l" t="t" r="r" b="b"/>
            <a:pathLst>
              <a:path w="2477152" h="1375374">
                <a:moveTo>
                  <a:pt x="0" y="0"/>
                </a:moveTo>
                <a:lnTo>
                  <a:pt x="2477152" y="0"/>
                </a:lnTo>
                <a:lnTo>
                  <a:pt x="2477152" y="1375374"/>
                </a:lnTo>
                <a:lnTo>
                  <a:pt x="0" y="1375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53302" y="656842"/>
            <a:ext cx="1745976" cy="753526"/>
          </a:xfrm>
          <a:custGeom>
            <a:avLst/>
            <a:gdLst/>
            <a:ahLst/>
            <a:cxnLst/>
            <a:rect l="l" t="t" r="r" b="b"/>
            <a:pathLst>
              <a:path w="1745976" h="753526">
                <a:moveTo>
                  <a:pt x="0" y="0"/>
                </a:moveTo>
                <a:lnTo>
                  <a:pt x="1745976" y="0"/>
                </a:lnTo>
                <a:lnTo>
                  <a:pt x="1745976" y="753526"/>
                </a:lnTo>
                <a:lnTo>
                  <a:pt x="0" y="753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4636943" y="554828"/>
            <a:ext cx="0" cy="857250"/>
          </a:xfrm>
          <a:prstGeom prst="line">
            <a:avLst/>
          </a:prstGeom>
          <a:ln w="38100" cap="flat">
            <a:solidFill>
              <a:srgbClr val="B58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6514651" y="554828"/>
            <a:ext cx="0" cy="857250"/>
          </a:xfrm>
          <a:prstGeom prst="line">
            <a:avLst/>
          </a:prstGeom>
          <a:ln w="38100" cap="flat">
            <a:solidFill>
              <a:srgbClr val="B58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8780253" y="553118"/>
            <a:ext cx="0" cy="857250"/>
          </a:xfrm>
          <a:prstGeom prst="line">
            <a:avLst/>
          </a:prstGeom>
          <a:ln w="38100" cap="flat">
            <a:solidFill>
              <a:srgbClr val="B58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11045854" y="551409"/>
            <a:ext cx="0" cy="857250"/>
          </a:xfrm>
          <a:prstGeom prst="line">
            <a:avLst/>
          </a:prstGeom>
          <a:ln w="38100" cap="flat">
            <a:solidFill>
              <a:srgbClr val="B58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V="1">
            <a:off x="13311456" y="549699"/>
            <a:ext cx="0" cy="857250"/>
          </a:xfrm>
          <a:prstGeom prst="line">
            <a:avLst/>
          </a:prstGeom>
          <a:ln w="38100" cap="flat">
            <a:solidFill>
              <a:srgbClr val="B58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9476586" y="656842"/>
            <a:ext cx="872935" cy="755236"/>
          </a:xfrm>
          <a:custGeom>
            <a:avLst/>
            <a:gdLst/>
            <a:ahLst/>
            <a:cxnLst/>
            <a:rect l="l" t="t" r="r" b="b"/>
            <a:pathLst>
              <a:path w="872935" h="755236">
                <a:moveTo>
                  <a:pt x="0" y="0"/>
                </a:moveTo>
                <a:lnTo>
                  <a:pt x="872935" y="0"/>
                </a:lnTo>
                <a:lnTo>
                  <a:pt x="872935" y="755236"/>
                </a:lnTo>
                <a:lnTo>
                  <a:pt x="0" y="7552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149480" y="554828"/>
            <a:ext cx="2058350" cy="876300"/>
          </a:xfrm>
          <a:custGeom>
            <a:avLst/>
            <a:gdLst/>
            <a:ahLst/>
            <a:cxnLst/>
            <a:rect l="l" t="t" r="r" b="b"/>
            <a:pathLst>
              <a:path w="2058350" h="876300">
                <a:moveTo>
                  <a:pt x="0" y="0"/>
                </a:moveTo>
                <a:lnTo>
                  <a:pt x="2058350" y="0"/>
                </a:lnTo>
                <a:lnTo>
                  <a:pt x="20583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3158" b="-4306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026050" y="1333506"/>
            <a:ext cx="966235" cy="152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sz="784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THINK. </a:t>
            </a:r>
            <a:r>
              <a:rPr lang="en-US" sz="784" b="1" i="1">
                <a:solidFill>
                  <a:srgbClr val="39ACA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BUILD.</a:t>
            </a:r>
            <a:r>
              <a:rPr lang="en-US" sz="784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EVOLVE.</a:t>
            </a:r>
          </a:p>
        </p:txBody>
      </p:sp>
      <p:sp>
        <p:nvSpPr>
          <p:cNvPr id="21" name="Freeform 21"/>
          <p:cNvSpPr/>
          <p:nvPr/>
        </p:nvSpPr>
        <p:spPr>
          <a:xfrm>
            <a:off x="4451528" y="-100151"/>
            <a:ext cx="2114191" cy="2114191"/>
          </a:xfrm>
          <a:custGeom>
            <a:avLst/>
            <a:gdLst/>
            <a:ahLst/>
            <a:cxnLst/>
            <a:rect l="l" t="t" r="r" b="b"/>
            <a:pathLst>
              <a:path w="2114191" h="2114191">
                <a:moveTo>
                  <a:pt x="0" y="0"/>
                </a:moveTo>
                <a:lnTo>
                  <a:pt x="2114191" y="0"/>
                </a:lnTo>
                <a:lnTo>
                  <a:pt x="2114191" y="2114191"/>
                </a:lnTo>
                <a:lnTo>
                  <a:pt x="0" y="2114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400654" y="4658310"/>
            <a:ext cx="10914590" cy="3574535"/>
            <a:chOff x="0" y="0"/>
            <a:chExt cx="14552787" cy="4766047"/>
          </a:xfrm>
        </p:grpSpPr>
        <p:grpSp>
          <p:nvGrpSpPr>
            <p:cNvPr id="27" name="Group 27"/>
            <p:cNvGrpSpPr/>
            <p:nvPr/>
          </p:nvGrpSpPr>
          <p:grpSpPr>
            <a:xfrm rot="5400000">
              <a:off x="-466138" y="466138"/>
              <a:ext cx="1081709" cy="149433"/>
              <a:chOff x="0" y="0"/>
              <a:chExt cx="213671" cy="2951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13671" cy="29518"/>
              </a:xfrm>
              <a:custGeom>
                <a:avLst/>
                <a:gdLst/>
                <a:ahLst/>
                <a:cxnLst/>
                <a:rect l="l" t="t" r="r" b="b"/>
                <a:pathLst>
                  <a:path w="213671" h="29518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5400000">
              <a:off x="-466138" y="1687547"/>
              <a:ext cx="1081709" cy="149433"/>
              <a:chOff x="0" y="0"/>
              <a:chExt cx="213671" cy="2951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13671" cy="29518"/>
              </a:xfrm>
              <a:custGeom>
                <a:avLst/>
                <a:gdLst/>
                <a:ahLst/>
                <a:cxnLst/>
                <a:rect l="l" t="t" r="r" b="b"/>
                <a:pathLst>
                  <a:path w="213671" h="29518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5400000">
              <a:off x="-466138" y="2908957"/>
              <a:ext cx="1081709" cy="149433"/>
              <a:chOff x="0" y="0"/>
              <a:chExt cx="213671" cy="2951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13671" cy="29518"/>
              </a:xfrm>
              <a:custGeom>
                <a:avLst/>
                <a:gdLst/>
                <a:ahLst/>
                <a:cxnLst/>
                <a:rect l="l" t="t" r="r" b="b"/>
                <a:pathLst>
                  <a:path w="213671" h="29518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5400000">
              <a:off x="-466138" y="4130366"/>
              <a:ext cx="1081709" cy="149433"/>
              <a:chOff x="0" y="0"/>
              <a:chExt cx="213671" cy="2951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13671" cy="29518"/>
              </a:xfrm>
              <a:custGeom>
                <a:avLst/>
                <a:gdLst/>
                <a:ahLst/>
                <a:cxnLst/>
                <a:rect l="l" t="t" r="r" b="b"/>
                <a:pathLst>
                  <a:path w="213671" h="29518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39" name="AutoShape 39"/>
            <p:cNvSpPr/>
            <p:nvPr/>
          </p:nvSpPr>
          <p:spPr>
            <a:xfrm>
              <a:off x="74717" y="2306073"/>
              <a:ext cx="14439331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94087" y="3536060"/>
              <a:ext cx="14439331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113456" y="4766047"/>
              <a:ext cx="14439331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74717" y="1076087"/>
              <a:ext cx="14439331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2953" y="141556"/>
              <a:ext cx="1848165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Track: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1573" y="1380299"/>
              <a:ext cx="2335488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Theme: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3932" y="2657340"/>
              <a:ext cx="1389909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Title: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5267" y="3852875"/>
              <a:ext cx="2669409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 dirty="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Team ID: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 rot="30000">
            <a:off x="2378811" y="1744082"/>
            <a:ext cx="10972800" cy="156654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2929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INCUBE</a:t>
            </a:r>
            <a:r>
              <a:rPr lang="en-US" sz="9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X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4009" y="3809051"/>
            <a:ext cx="12804562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 sz="2000" b="0">
                <a:solidFill>
                  <a:srgbClr val="632EC9"/>
                </a:solidFill>
                <a:latin typeface="Helvetica World"/>
              </a:defRPr>
            </a:pPr>
            <a:r>
              <a:rPr lang="en-IN" sz="2800"/>
              <a:t/>
            </a:r>
            <a:br>
              <a:rPr lang="en-IN" sz="2800"/>
            </a:br>
            <a:endParaRPr lang="en-IN" sz="2800" dirty="0"/>
          </a:p>
          <a:p>
            <a:pPr algn="ctr">
              <a:lnSpc>
                <a:spcPts val="3079"/>
              </a:lnSpc>
              <a:defRPr sz="2000" b="0">
                <a:solidFill>
                  <a:srgbClr val="632EC9"/>
                </a:solidFill>
                <a:latin typeface="Helvetica World"/>
              </a:defRPr>
            </a:pPr>
            <a:endParaRPr sz="2800" dirty="0"/>
          </a:p>
        </p:txBody>
      </p:sp>
      <p:sp>
        <p:nvSpPr>
          <p:cNvPr id="49" name="TextBox 48"/>
          <p:cNvSpPr txBox="1"/>
          <p:nvPr/>
        </p:nvSpPr>
        <p:spPr>
          <a:xfrm>
            <a:off x="4135807" y="4786853"/>
            <a:ext cx="8926941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0">
                <a:solidFill>
                  <a:srgbClr val="1A0A4A"/>
                </a:solidFill>
                <a:latin typeface="Helvetica World"/>
              </a:defRPr>
            </a:pPr>
            <a:r>
              <a:rPr dirty="0"/>
              <a:t>Prototype Expo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6113" y="5754475"/>
            <a:ext cx="876404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0">
                <a:solidFill>
                  <a:srgbClr val="1A0A4A"/>
                </a:solidFill>
                <a:latin typeface="Helvetica World"/>
              </a:defRPr>
            </a:pPr>
            <a:r>
              <a:rPr dirty="0"/>
              <a:t>Aerospace &amp; Space Technology / Hardware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9621" y="6685177"/>
            <a:ext cx="9117689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600" b="0">
                <a:solidFill>
                  <a:srgbClr val="1A0A4A"/>
                </a:solidFill>
                <a:latin typeface="Helvetica World"/>
              </a:defRPr>
            </a:pPr>
            <a:r>
              <a:rPr lang="en-US" dirty="0" err="1"/>
              <a:t>AeroSync</a:t>
            </a:r>
            <a:r>
              <a:rPr lang="en-US" dirty="0"/>
              <a:t> : Hybrid </a:t>
            </a:r>
            <a:r>
              <a:rPr lang="en-US" dirty="0" err="1"/>
              <a:t>CanSat</a:t>
            </a:r>
            <a:r>
              <a:rPr dirty="0"/>
              <a:t> Telemetry &amp; </a:t>
            </a:r>
            <a:r>
              <a:rPr lang="en-US" dirty="0"/>
              <a:t>Launch Vehicle System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4420130" y="7607666"/>
            <a:ext cx="743793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600" b="0">
                <a:solidFill>
                  <a:srgbClr val="1A0A4A"/>
                </a:solidFill>
                <a:latin typeface="Helvetica World"/>
              </a:defRPr>
            </a:pPr>
            <a:r>
              <a:rPr lang="en-US" dirty="0"/>
              <a:t>0007</a:t>
            </a:r>
          </a:p>
        </p:txBody>
      </p:sp>
      <p:sp>
        <p:nvSpPr>
          <p:cNvPr id="53" name="TextBox 52">
            <a:hlinkClick r:id="rId9"/>
            <a:extLst>
              <a:ext uri="{FF2B5EF4-FFF2-40B4-BE49-F238E27FC236}">
                <a16:creationId xmlns:a16="http://schemas.microsoft.com/office/drawing/2014/main" id="{EADA989A-0E51-B4AC-8D4F-382A4A6BC8CB}"/>
              </a:ext>
            </a:extLst>
          </p:cNvPr>
          <p:cNvSpPr txBox="1"/>
          <p:nvPr/>
        </p:nvSpPr>
        <p:spPr>
          <a:xfrm>
            <a:off x="1490554" y="9158205"/>
            <a:ext cx="1530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Videos: </a:t>
            </a:r>
            <a:r>
              <a:rPr lang="en-IN" dirty="0">
                <a:hlinkClick r:id="rId9"/>
              </a:rPr>
              <a:t>https://drive.google.com/drive/folders/12sinTi2cqTp08u40LJMLwo98TNp7EeID</a:t>
            </a:r>
            <a:endParaRPr lang="en-IN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CA525FC1-532E-230D-D028-788958C18C7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216" y="6791182"/>
            <a:ext cx="4389085" cy="312448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6A6BA99-98E4-BCB1-DD12-8EE570B573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749" y="1844515"/>
            <a:ext cx="2828665" cy="4784522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3678" y="-244796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533252" y="1453052"/>
            <a:ext cx="17221495" cy="9525"/>
            <a:chOff x="0" y="0"/>
            <a:chExt cx="17221505" cy="95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21459" cy="9525"/>
            </a:xfrm>
            <a:custGeom>
              <a:avLst/>
              <a:gdLst/>
              <a:ahLst/>
              <a:cxnLst/>
              <a:rect l="l" t="t" r="r" b="b"/>
              <a:pathLst>
                <a:path w="17221459" h="9525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 rot="-31603">
            <a:off x="525527" y="1736596"/>
            <a:ext cx="17221495" cy="9525"/>
            <a:chOff x="0" y="0"/>
            <a:chExt cx="17221505" cy="9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21459" cy="9525"/>
            </a:xfrm>
            <a:custGeom>
              <a:avLst/>
              <a:gdLst/>
              <a:ahLst/>
              <a:cxnLst/>
              <a:rect l="l" t="t" r="r" b="b"/>
              <a:pathLst>
                <a:path w="17221459" h="9525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926000" y="443431"/>
            <a:ext cx="1600200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</a:rPr>
              <a:t>Problem and limitations of existing solutions</a:t>
            </a:r>
          </a:p>
        </p:txBody>
      </p:sp>
      <p:sp>
        <p:nvSpPr>
          <p:cNvPr id="30" name="AutoShape 30"/>
          <p:cNvSpPr/>
          <p:nvPr/>
        </p:nvSpPr>
        <p:spPr>
          <a:xfrm>
            <a:off x="1028698" y="1630066"/>
            <a:ext cx="16717915" cy="32137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BannerRect"/>
          <p:cNvSpPr/>
          <p:nvPr/>
        </p:nvSpPr>
        <p:spPr>
          <a:xfrm>
            <a:off x="352251" y="2123273"/>
            <a:ext cx="17568000" cy="540000"/>
          </a:xfrm>
          <a:prstGeom prst="roundRect">
            <a:avLst>
              <a:gd name="adj" fmla="val 25000"/>
            </a:avLst>
          </a:prstGeom>
          <a:solidFill>
            <a:srgbClr val="1A1A3E"/>
          </a:solidFill>
          <a:effectLst>
            <a:outerShdw blurRad="60960" dist="38100" dir="5400000" algn="ctr" rotWithShape="0">
              <a:srgbClr val="000000">
                <a:alpha val="40000"/>
              </a:srgbClr>
            </a:outerShdw>
          </a:effectLst>
        </p:spPr>
        <p:txBody>
          <a:bodyPr lIns="216000" tIns="72000" rIns="216000" bIns="72000" rtlCol="0" anchor="ctr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Helvetica World Bold"/>
              </a:rPr>
              <a:t>⚡ WHY EXISTING SOLUTIONS FAIL — AND WHY WE BUILT SOMETHING BETTER</a:t>
            </a:r>
          </a:p>
        </p:txBody>
      </p:sp>
      <p:sp>
        <p:nvSpPr>
          <p:cNvPr id="200" name="C1Bar"/>
          <p:cNvSpPr/>
          <p:nvPr/>
        </p:nvSpPr>
        <p:spPr>
          <a:xfrm>
            <a:off x="360000" y="3020000"/>
            <a:ext cx="200000" cy="1500000"/>
          </a:xfrm>
          <a:prstGeom prst="roundRect">
            <a:avLst>
              <a:gd name="adj" fmla="val 15000"/>
            </a:avLst>
          </a:prstGeom>
          <a:solidFill>
            <a:srgbClr val="F5A623"/>
          </a:solidFill>
        </p:spPr>
        <p:txBody>
          <a:bodyPr/>
          <a:lstStyle/>
          <a:p>
            <a:endParaRPr sz="1600"/>
          </a:p>
        </p:txBody>
      </p:sp>
      <p:sp>
        <p:nvSpPr>
          <p:cNvPr id="201" name="C1Body"/>
          <p:cNvSpPr/>
          <p:nvPr/>
        </p:nvSpPr>
        <p:spPr>
          <a:xfrm>
            <a:off x="660000" y="302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76200" dist="50800" dir="5400000" algn="ctr" rotWithShape="0">
              <a:srgbClr val="5B2D8E">
                <a:alpha val="30000"/>
              </a:srgbClr>
            </a:outerShdw>
          </a:effectLst>
        </p:spPr>
        <p:txBody>
          <a:bodyPr lIns="162000" tIns="144000" rIns="126000" bIns="108000" rtlCol="0" anchor="t"/>
          <a:lstStyle/>
          <a:p>
            <a:r>
              <a:rPr lang="en-US" sz="1600" b="1">
                <a:solidFill>
                  <a:srgbClr val="F5A623"/>
                </a:solidFill>
                <a:latin typeface="Helvetica World Bold"/>
              </a:rPr>
              <a:t>📡 DELAYED DATA</a:t>
            </a:r>
          </a:p>
          <a:p>
            <a:pPr>
              <a:spcBef>
                <a:spcPts val="200"/>
              </a:spcBef>
            </a:pPr>
            <a:r>
              <a:rPr lang="en-US" sz="1600" b="1">
                <a:solidFill>
                  <a:srgbClr val="1A1A3E"/>
                </a:solidFill>
                <a:latin typeface="Helvetica World Bold"/>
              </a:rPr>
              <a:t>Delayed Data Recovery</a:t>
            </a:r>
          </a:p>
          <a:p>
            <a:pPr>
              <a:spcBef>
                <a:spcPts val="150"/>
              </a:spcBef>
            </a:pPr>
            <a:r>
              <a:rPr lang="en-US" sz="1600">
                <a:solidFill>
                  <a:srgbClr val="555577"/>
                </a:solidFill>
                <a:latin typeface="Helvetica World"/>
              </a:rPr>
              <a:t>Platforms require full recovery before data is accessible — zero real-time insight.</a:t>
            </a:r>
          </a:p>
        </p:txBody>
      </p:sp>
      <p:sp>
        <p:nvSpPr>
          <p:cNvPr id="210" name="C2Bar"/>
          <p:cNvSpPr/>
          <p:nvPr/>
        </p:nvSpPr>
        <p:spPr>
          <a:xfrm>
            <a:off x="360000" y="4700000"/>
            <a:ext cx="200000" cy="1500000"/>
          </a:xfrm>
          <a:prstGeom prst="roundRect">
            <a:avLst>
              <a:gd name="adj" fmla="val 15000"/>
            </a:avLst>
          </a:prstGeom>
          <a:solidFill>
            <a:srgbClr val="00B3A0"/>
          </a:solidFill>
        </p:spPr>
        <p:txBody>
          <a:bodyPr/>
          <a:lstStyle/>
          <a:p>
            <a:endParaRPr sz="1600"/>
          </a:p>
        </p:txBody>
      </p:sp>
      <p:sp>
        <p:nvSpPr>
          <p:cNvPr id="211" name="C2Body"/>
          <p:cNvSpPr/>
          <p:nvPr/>
        </p:nvSpPr>
        <p:spPr>
          <a:xfrm>
            <a:off x="660000" y="470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76200" dist="50800" dir="5400000" algn="ctr" rotWithShape="0">
              <a:srgbClr val="5B2D8E">
                <a:alpha val="30000"/>
              </a:srgbClr>
            </a:outerShdw>
          </a:effectLst>
        </p:spPr>
        <p:txBody>
          <a:bodyPr lIns="162000" tIns="144000" rIns="126000" bIns="108000" rtlCol="0" anchor="t"/>
          <a:lstStyle/>
          <a:p>
            <a:r>
              <a:rPr lang="en-US" sz="1600" b="1">
                <a:solidFill>
                  <a:srgbClr val="00B3A0"/>
                </a:solidFill>
                <a:latin typeface="Helvetica World Bold"/>
              </a:rPr>
              <a:t>💰 PROHIBITIVE COST</a:t>
            </a:r>
          </a:p>
          <a:p>
            <a:pPr>
              <a:spcBef>
                <a:spcPts val="200"/>
              </a:spcBef>
            </a:pPr>
            <a:r>
              <a:rPr lang="en-US" sz="1600" b="1">
                <a:solidFill>
                  <a:srgbClr val="1A1A3E"/>
                </a:solidFill>
                <a:latin typeface="Helvetica World Bold"/>
              </a:rPr>
              <a:t>Prohibitive Cost</a:t>
            </a:r>
          </a:p>
          <a:p>
            <a:pPr>
              <a:spcBef>
                <a:spcPts val="150"/>
              </a:spcBef>
            </a:pPr>
            <a:r>
              <a:rPr lang="en-US" sz="1600">
                <a:solidFill>
                  <a:srgbClr val="555577"/>
                </a:solidFill>
                <a:latin typeface="Helvetica World"/>
              </a:rPr>
              <a:t>Orbital infrastructure and satellite-grade hardware prices out student and research teams.</a:t>
            </a:r>
          </a:p>
        </p:txBody>
      </p:sp>
      <p:sp>
        <p:nvSpPr>
          <p:cNvPr id="220" name="C3Bar"/>
          <p:cNvSpPr/>
          <p:nvPr/>
        </p:nvSpPr>
        <p:spPr>
          <a:xfrm>
            <a:off x="360000" y="6380000"/>
            <a:ext cx="200000" cy="1500000"/>
          </a:xfrm>
          <a:prstGeom prst="roundRect">
            <a:avLst>
              <a:gd name="adj" fmla="val 15000"/>
            </a:avLst>
          </a:prstGeom>
          <a:solidFill>
            <a:srgbClr val="7B3FBF"/>
          </a:solidFill>
        </p:spPr>
        <p:txBody>
          <a:bodyPr/>
          <a:lstStyle/>
          <a:p>
            <a:endParaRPr sz="1400"/>
          </a:p>
        </p:txBody>
      </p:sp>
      <p:sp>
        <p:nvSpPr>
          <p:cNvPr id="221" name="C3Body"/>
          <p:cNvSpPr/>
          <p:nvPr/>
        </p:nvSpPr>
        <p:spPr>
          <a:xfrm>
            <a:off x="660000" y="638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76200" dist="50800" dir="5400000" algn="ctr" rotWithShape="0">
              <a:srgbClr val="5B2D8E">
                <a:alpha val="30000"/>
              </a:srgbClr>
            </a:outerShdw>
          </a:effectLst>
        </p:spPr>
        <p:txBody>
          <a:bodyPr lIns="162000" tIns="144000" rIns="126000" bIns="108000" rtlCol="0" anchor="t"/>
          <a:lstStyle/>
          <a:p>
            <a:r>
              <a:rPr lang="en-US" sz="1400" b="1">
                <a:solidFill>
                  <a:srgbClr val="7B3FBF"/>
                </a:solidFill>
                <a:latin typeface="Helvetica World Bold"/>
              </a:rPr>
              <a:t>🔩 FRAGMENTED SENSING</a:t>
            </a:r>
          </a:p>
          <a:p>
            <a:pPr>
              <a:spcBef>
                <a:spcPts val="200"/>
              </a:spcBef>
            </a:pPr>
            <a:r>
              <a:rPr lang="en-US" sz="1400" b="1">
                <a:solidFill>
                  <a:srgbClr val="1A1A3E"/>
                </a:solidFill>
                <a:latin typeface="Helvetica World Bold"/>
              </a:rPr>
              <a:t>Fragmented Sensing</a:t>
            </a:r>
          </a:p>
          <a:p>
            <a:pPr>
              <a:spcBef>
                <a:spcPts val="150"/>
              </a:spcBef>
            </a:pPr>
            <a:r>
              <a:rPr lang="en-US" sz="1400">
                <a:solidFill>
                  <a:srgbClr val="555577"/>
                </a:solidFill>
                <a:latin typeface="Helvetica World"/>
              </a:rPr>
              <a:t>Environmental, motion, and navigation data require separate, incompatible systems.</a:t>
            </a:r>
          </a:p>
        </p:txBody>
      </p:sp>
      <p:sp>
        <p:nvSpPr>
          <p:cNvPr id="300" name="CenterPanel"/>
          <p:cNvSpPr/>
          <p:nvPr/>
        </p:nvSpPr>
        <p:spPr>
          <a:xfrm>
            <a:off x="6714000" y="3020000"/>
            <a:ext cx="4860000" cy="4860000"/>
          </a:xfrm>
          <a:prstGeom prst="ellipse">
            <a:avLst/>
          </a:prstGeom>
          <a:solidFill>
            <a:srgbClr val="5B2D8E"/>
          </a:solidFill>
          <a:effectLst>
            <a:outerShdw blurRad="228600" dist="114300" dir="5400000" algn="ctr" rotWithShape="0">
              <a:srgbClr val="2D0060">
                <a:alpha val="55000"/>
              </a:srgbClr>
            </a:outerShdw>
          </a:effectLst>
        </p:spPr>
        <p:txBody>
          <a:bodyPr lIns="432000" tIns="540000" rIns="432000" bIns="540000" rtlCol="0" anchor="ctr"/>
          <a:lstStyle/>
          <a:p>
            <a:pPr algn="ctr"/>
            <a:r>
              <a:rPr lang="en-US" sz="1500" b="1" spc="300" dirty="0">
                <a:solidFill>
                  <a:srgbClr val="00E5CF"/>
                </a:solidFill>
                <a:latin typeface="Helvetica World Bold"/>
              </a:rPr>
              <a:t>THE OPPORTUNITY</a:t>
            </a:r>
          </a:p>
          <a:p>
            <a:pPr algn="ctr">
              <a:spcBef>
                <a:spcPts val="200"/>
              </a:spcBef>
            </a:pPr>
            <a:r>
              <a:rPr lang="en-US" sz="1500" dirty="0">
                <a:solidFill>
                  <a:srgbClr val="C0A0E8"/>
                </a:solidFill>
              </a:rPr>
              <a:t>──────────────────</a:t>
            </a:r>
          </a:p>
          <a:p>
            <a:pPr algn="ctr">
              <a:spcBef>
                <a:spcPts val="400"/>
              </a:spcBef>
            </a:pPr>
            <a:r>
              <a:rPr lang="en-US" sz="1500" b="1" dirty="0">
                <a:solidFill>
                  <a:srgbClr val="FFFFFF"/>
                </a:solidFill>
                <a:latin typeface="Helvetica World Bold"/>
              </a:rPr>
              <a:t>📍 Why It Matters</a:t>
            </a:r>
          </a:p>
          <a:p>
            <a:pPr algn="ctr">
              <a:spcBef>
                <a:spcPts val="250"/>
              </a:spcBef>
            </a:pPr>
            <a:r>
              <a:rPr lang="en-US" sz="1500" dirty="0">
                <a:solidFill>
                  <a:srgbClr val="E0D0FF"/>
                </a:solidFill>
                <a:latin typeface="Helvetica World"/>
              </a:rPr>
              <a:t>Altitude-based data powers weather forecasting, precision agriculture, disaster response and environmental monitoring — yet inaccessible without costly infrastructure.</a:t>
            </a:r>
          </a:p>
          <a:p>
            <a:pPr algn="ctr">
              <a:spcBef>
                <a:spcPts val="500"/>
              </a:spcBef>
            </a:pPr>
            <a:r>
              <a:rPr lang="en-US" sz="1500" b="1" dirty="0">
                <a:solidFill>
                  <a:srgbClr val="FFFFFF"/>
                </a:solidFill>
                <a:latin typeface="Helvetica World Bold"/>
              </a:rPr>
              <a:t>🎯 Our Focus</a:t>
            </a:r>
          </a:p>
          <a:p>
            <a:pPr algn="ctr">
              <a:spcBef>
                <a:spcPts val="250"/>
              </a:spcBef>
            </a:pPr>
            <a:r>
              <a:rPr lang="en-US" sz="1500" dirty="0">
                <a:solidFill>
                  <a:srgbClr val="E0D0FF"/>
                </a:solidFill>
                <a:latin typeface="Helvetica World"/>
              </a:rPr>
              <a:t>Affordable, integrated sensing of environment, illumination, motion, and GPS in a single compact airborne platform.</a:t>
            </a:r>
          </a:p>
        </p:txBody>
      </p:sp>
      <p:sp>
        <p:nvSpPr>
          <p:cNvPr id="301" name="CenterBand"/>
          <p:cNvSpPr/>
          <p:nvPr/>
        </p:nvSpPr>
        <p:spPr>
          <a:xfrm>
            <a:off x="5859976" y="8238548"/>
            <a:ext cx="6568000" cy="480000"/>
          </a:xfrm>
          <a:prstGeom prst="roundRect">
            <a:avLst>
              <a:gd name="adj" fmla="val 30000"/>
            </a:avLst>
          </a:prstGeom>
          <a:solidFill>
            <a:srgbClr val="00B3A0"/>
          </a:solidFill>
          <a:effectLst>
            <a:outerShdw blurRad="60960" dist="38100" dir="5400000" algn="ctr" rotWithShape="0">
              <a:srgbClr val="004D45">
                <a:alpha val="50000"/>
              </a:srgbClr>
            </a:outerShdw>
          </a:effectLst>
        </p:spPr>
        <p:txBody>
          <a:bodyPr lIns="72000" tIns="72000" rIns="72000" bIns="72000" rtlCol="0" anchor="ctr"/>
          <a:lstStyle/>
          <a:p>
            <a:pPr algn="ctr"/>
            <a:r>
              <a:rPr lang="en-US" sz="1200" b="1" spc="200">
                <a:solidFill>
                  <a:srgbClr val="FFFFFF"/>
                </a:solidFill>
                <a:latin typeface="Helvetica World Bold"/>
              </a:rPr>
              <a:t>COMPACT  ·  AFFORDABLE  ·  REAL-TIME</a:t>
            </a:r>
          </a:p>
        </p:txBody>
      </p:sp>
      <p:sp>
        <p:nvSpPr>
          <p:cNvPr id="400" name="B1H"/>
          <p:cNvSpPr/>
          <p:nvPr/>
        </p:nvSpPr>
        <p:spPr>
          <a:xfrm>
            <a:off x="12728000" y="3020000"/>
            <a:ext cx="5200000" cy="560000"/>
          </a:xfrm>
          <a:prstGeom prst="roundRect">
            <a:avLst>
              <a:gd name="adj" fmla="val 15000"/>
            </a:avLst>
          </a:prstGeom>
          <a:solidFill>
            <a:srgbClr val="5B2D8E"/>
          </a:solidFill>
          <a:effectLst>
            <a:outerShdw blurRad="76200" dist="38100" dir="5400000" algn="ctr" rotWithShape="0">
              <a:srgbClr val="2D0060">
                <a:alpha val="45000"/>
              </a:srgbClr>
            </a:outerShdw>
          </a:effectLst>
        </p:spPr>
        <p:txBody>
          <a:bodyPr lIns="144000" tIns="72000" rIns="144000" bIns="720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Helvetica World Bold"/>
              </a:rPr>
              <a:t>🛰 CUBESATS</a:t>
            </a:r>
          </a:p>
        </p:txBody>
      </p:sp>
      <p:sp>
        <p:nvSpPr>
          <p:cNvPr id="401" name="B1Body"/>
          <p:cNvSpPr/>
          <p:nvPr/>
        </p:nvSpPr>
        <p:spPr>
          <a:xfrm>
            <a:off x="12728000" y="3620000"/>
            <a:ext cx="5200000" cy="9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76200" dist="50800" dir="5400000" algn="ctr" rotWithShape="0">
              <a:srgbClr val="5B2D8E">
                <a:alpha val="28000"/>
              </a:srgbClr>
            </a:outerShdw>
          </a:effectLst>
        </p:spPr>
        <p:txBody>
          <a:bodyPr lIns="162000" tIns="126000" rIns="162000" bIns="108000" rtlCol="0" anchor="t"/>
          <a:lstStyle/>
          <a:p>
            <a:r>
              <a:rPr lang="en-US" sz="1600">
                <a:solidFill>
                  <a:srgbClr val="444466"/>
                </a:solidFill>
                <a:latin typeface="Helvetica World"/>
              </a:rPr>
              <a:t>Requires orbital launch infrastructure. High cost — inaccessible for rapid prototyping.</a:t>
            </a:r>
          </a:p>
          <a:p>
            <a:pPr algn="r">
              <a:spcBef>
                <a:spcPts val="250"/>
              </a:spcBef>
            </a:pPr>
            <a:r>
              <a:rPr lang="en-US" sz="1600" b="1">
                <a:solidFill>
                  <a:srgbClr val="FFFFFF"/>
                </a:solidFill>
                <a:latin typeface="Helvetica World Bold"/>
              </a:rPr>
              <a:t>  HIGH COST  </a:t>
            </a:r>
          </a:p>
        </p:txBody>
      </p:sp>
      <p:sp>
        <p:nvSpPr>
          <p:cNvPr id="410" name="B2H"/>
          <p:cNvSpPr/>
          <p:nvPr/>
        </p:nvSpPr>
        <p:spPr>
          <a:xfrm>
            <a:off x="12728000" y="4700000"/>
            <a:ext cx="5200000" cy="560000"/>
          </a:xfrm>
          <a:prstGeom prst="roundRect">
            <a:avLst>
              <a:gd name="adj" fmla="val 15000"/>
            </a:avLst>
          </a:prstGeom>
          <a:solidFill>
            <a:srgbClr val="00B3A0"/>
          </a:solidFill>
          <a:effectLst>
            <a:outerShdw blurRad="76200" dist="38100" dir="5400000" algn="ctr" rotWithShape="0">
              <a:srgbClr val="004D45">
                <a:alpha val="45000"/>
              </a:srgbClr>
            </a:outerShdw>
          </a:effectLst>
        </p:spPr>
        <p:txBody>
          <a:bodyPr lIns="144000" tIns="72000" rIns="144000" bIns="720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Helvetica World Bold"/>
              </a:rPr>
              <a:t>🎈 WEATHER BALLOONS</a:t>
            </a:r>
          </a:p>
        </p:txBody>
      </p:sp>
      <p:sp>
        <p:nvSpPr>
          <p:cNvPr id="411" name="B2Body"/>
          <p:cNvSpPr/>
          <p:nvPr/>
        </p:nvSpPr>
        <p:spPr>
          <a:xfrm>
            <a:off x="12728000" y="5300000"/>
            <a:ext cx="5200000" cy="9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76200" dist="50800" dir="5400000" algn="ctr" rotWithShape="0">
              <a:srgbClr val="5B2D8E">
                <a:alpha val="28000"/>
              </a:srgbClr>
            </a:outerShdw>
          </a:effectLst>
        </p:spPr>
        <p:txBody>
          <a:bodyPr lIns="162000" tIns="126000" rIns="162000" bIns="108000" rtlCol="0" anchor="t"/>
          <a:lstStyle/>
          <a:p>
            <a:r>
              <a:rPr lang="en-US" sz="1600">
                <a:solidFill>
                  <a:srgbClr val="444466"/>
                </a:solidFill>
                <a:latin typeface="Helvetica World"/>
              </a:rPr>
              <a:t>Limited real-time telemetry. Data retrieved only after physical recovery of payload.</a:t>
            </a:r>
          </a:p>
          <a:p>
            <a:pPr algn="r">
              <a:spcBef>
                <a:spcPts val="250"/>
              </a:spcBef>
            </a:pPr>
            <a:r>
              <a:rPr lang="en-US" sz="1600" b="1">
                <a:solidFill>
                  <a:srgbClr val="FFFFFF"/>
                </a:solidFill>
                <a:latin typeface="Helvetica World Bold"/>
              </a:rPr>
              <a:t>  DELAYED DATA  </a:t>
            </a:r>
          </a:p>
        </p:txBody>
      </p:sp>
      <p:sp>
        <p:nvSpPr>
          <p:cNvPr id="420" name="B3H"/>
          <p:cNvSpPr/>
          <p:nvPr/>
        </p:nvSpPr>
        <p:spPr>
          <a:xfrm>
            <a:off x="12728000" y="6380000"/>
            <a:ext cx="5200000" cy="56000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effectLst>
            <a:outerShdw blurRad="76200" dist="38100" dir="5400000" algn="ctr" rotWithShape="0">
              <a:srgbClr val="000000">
                <a:alpha val="45000"/>
              </a:srgbClr>
            </a:outerShdw>
          </a:effectLst>
        </p:spPr>
        <p:txBody>
          <a:bodyPr lIns="144000" tIns="72000" rIns="144000" bIns="720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Helvetica World Bold"/>
              </a:rPr>
              <a:t>🔬 LAB INSTRUMENTS</a:t>
            </a:r>
          </a:p>
        </p:txBody>
      </p:sp>
      <p:sp>
        <p:nvSpPr>
          <p:cNvPr id="421" name="B3Body"/>
          <p:cNvSpPr/>
          <p:nvPr/>
        </p:nvSpPr>
        <p:spPr>
          <a:xfrm>
            <a:off x="12728000" y="6980000"/>
            <a:ext cx="5200000" cy="9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effectLst>
            <a:outerShdw blurRad="76200" dist="50800" dir="5400000" algn="ctr" rotWithShape="0">
              <a:srgbClr val="5B2D8E">
                <a:alpha val="28000"/>
              </a:srgbClr>
            </a:outerShdw>
          </a:effectLst>
        </p:spPr>
        <p:txBody>
          <a:bodyPr lIns="162000" tIns="126000" rIns="162000" bIns="108000" rtlCol="0" anchor="t"/>
          <a:lstStyle/>
          <a:p>
            <a:r>
              <a:rPr lang="en-US" sz="1600">
                <a:solidFill>
                  <a:srgbClr val="444466"/>
                </a:solidFill>
                <a:latin typeface="Helvetica World"/>
              </a:rPr>
              <a:t>Stationary by design. Cannot capture altitude-varying atmospheric profiles in the field.</a:t>
            </a:r>
          </a:p>
          <a:p>
            <a:pPr algn="r">
              <a:spcBef>
                <a:spcPts val="250"/>
              </a:spcBef>
            </a:pPr>
            <a:r>
              <a:rPr lang="en-US" sz="1600" b="1">
                <a:solidFill>
                  <a:srgbClr val="FFFFFF"/>
                </a:solidFill>
                <a:latin typeface="Helvetica World Bold"/>
              </a:rPr>
              <a:t>  NO MOBILITY  </a:t>
            </a:r>
          </a:p>
        </p:txBody>
      </p:sp>
      <p:sp>
        <p:nvSpPr>
          <p:cNvPr id="501" name="BotRight"/>
          <p:cNvSpPr/>
          <p:nvPr/>
        </p:nvSpPr>
        <p:spPr>
          <a:xfrm>
            <a:off x="4784251" y="9063100"/>
            <a:ext cx="8704000" cy="500000"/>
          </a:xfrm>
          <a:prstGeom prst="roundRect">
            <a:avLst>
              <a:gd name="adj" fmla="val 30000"/>
            </a:avLst>
          </a:prstGeom>
          <a:solidFill>
            <a:srgbClr val="00B3A0"/>
          </a:solidFill>
        </p:spPr>
        <p:txBody>
          <a:bodyPr/>
          <a:lstStyle/>
          <a:p>
            <a:endParaRPr/>
          </a:p>
        </p:txBody>
      </p:sp>
      <p:sp>
        <p:nvSpPr>
          <p:cNvPr id="502" name="BotText"/>
          <p:cNvSpPr txBox="1"/>
          <p:nvPr/>
        </p:nvSpPr>
        <p:spPr>
          <a:xfrm>
            <a:off x="352251" y="9031824"/>
            <a:ext cx="17568000" cy="500000"/>
          </a:xfrm>
          <a:prstGeom prst="rect">
            <a:avLst/>
          </a:prstGeom>
          <a:noFill/>
        </p:spPr>
        <p:txBody>
          <a:bodyPr lIns="216000" tIns="54000" rIns="216000" bIns="5400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Helvetica World Bold"/>
              </a:rPr>
              <a:t>📊 Altitude-based data is critical — yet no affordable, integrated, real-time solution existed. Until now.</a:t>
            </a:r>
          </a:p>
        </p:txBody>
      </p:sp>
      <p:sp>
        <p:nvSpPr>
          <p:cNvPr id="32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/>
            </a:stretch>
          </a:blipFill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086" y="-127655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533252" y="1453052"/>
            <a:ext cx="17221495" cy="9525"/>
            <a:chOff x="0" y="0"/>
            <a:chExt cx="17221505" cy="95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21459" cy="9525"/>
            </a:xfrm>
            <a:custGeom>
              <a:avLst/>
              <a:gdLst/>
              <a:ahLst/>
              <a:cxnLst/>
              <a:rect l="l" t="t" r="r" b="b"/>
              <a:pathLst>
                <a:path w="17221459" h="9525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 rot="-31603">
            <a:off x="525527" y="1736596"/>
            <a:ext cx="17221495" cy="9525"/>
            <a:chOff x="0" y="0"/>
            <a:chExt cx="17221505" cy="9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21459" cy="9525"/>
            </a:xfrm>
            <a:custGeom>
              <a:avLst/>
              <a:gdLst/>
              <a:ahLst/>
              <a:cxnLst/>
              <a:rect l="l" t="t" r="r" b="b"/>
              <a:pathLst>
                <a:path w="17221459" h="9525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884920" y="459586"/>
            <a:ext cx="772041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dirty="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Solutions and it’s USP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84921" y="1941853"/>
            <a:ext cx="4100936" cy="1034456"/>
            <a:chOff x="0" y="0"/>
            <a:chExt cx="5467915" cy="1379275"/>
          </a:xfrm>
        </p:grpSpPr>
        <p:sp>
          <p:nvSpPr>
            <p:cNvPr id="11" name="AutoShape 11"/>
            <p:cNvSpPr/>
            <p:nvPr/>
          </p:nvSpPr>
          <p:spPr>
            <a:xfrm>
              <a:off x="74717" y="1373652"/>
              <a:ext cx="5393198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2" name="Group 12"/>
            <p:cNvGrpSpPr/>
            <p:nvPr/>
          </p:nvGrpSpPr>
          <p:grpSpPr>
            <a:xfrm rot="5400000">
              <a:off x="-614921" y="614921"/>
              <a:ext cx="1379275" cy="149433"/>
              <a:chOff x="0" y="0"/>
              <a:chExt cx="272449" cy="2951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2449" cy="29518"/>
              </a:xfrm>
              <a:custGeom>
                <a:avLst/>
                <a:gdLst/>
                <a:ahLst/>
                <a:cxnLst/>
                <a:rect l="l" t="t" r="r" b="b"/>
                <a:pathLst>
                  <a:path w="272449" h="29518">
                    <a:moveTo>
                      <a:pt x="14759" y="0"/>
                    </a:moveTo>
                    <a:lnTo>
                      <a:pt x="257690" y="0"/>
                    </a:lnTo>
                    <a:cubicBezTo>
                      <a:pt x="261605" y="0"/>
                      <a:pt x="265359" y="1555"/>
                      <a:pt x="268127" y="4323"/>
                    </a:cubicBezTo>
                    <a:cubicBezTo>
                      <a:pt x="270894" y="7091"/>
                      <a:pt x="272449" y="10845"/>
                      <a:pt x="272449" y="14759"/>
                    </a:cubicBezTo>
                    <a:lnTo>
                      <a:pt x="272449" y="14759"/>
                    </a:lnTo>
                    <a:cubicBezTo>
                      <a:pt x="272449" y="18673"/>
                      <a:pt x="270894" y="22427"/>
                      <a:pt x="268127" y="25195"/>
                    </a:cubicBezTo>
                    <a:cubicBezTo>
                      <a:pt x="265359" y="27963"/>
                      <a:pt x="261605" y="29518"/>
                      <a:pt x="257690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72449" cy="77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2357052" y="2095810"/>
            <a:ext cx="3611144" cy="50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 Description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793459" y="1952984"/>
            <a:ext cx="4172998" cy="1034456"/>
            <a:chOff x="-86752" y="0"/>
            <a:chExt cx="5563997" cy="1379275"/>
          </a:xfrm>
        </p:grpSpPr>
        <p:sp>
          <p:nvSpPr>
            <p:cNvPr id="18" name="AutoShape 18"/>
            <p:cNvSpPr/>
            <p:nvPr/>
          </p:nvSpPr>
          <p:spPr>
            <a:xfrm>
              <a:off x="84047" y="1373652"/>
              <a:ext cx="5393198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 rot="5400000">
              <a:off x="-610256" y="610256"/>
              <a:ext cx="1379275" cy="158763"/>
              <a:chOff x="0" y="0"/>
              <a:chExt cx="272449" cy="313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72449" cy="31361"/>
              </a:xfrm>
              <a:custGeom>
                <a:avLst/>
                <a:gdLst/>
                <a:ahLst/>
                <a:cxnLst/>
                <a:rect l="l" t="t" r="r" b="b"/>
                <a:pathLst>
                  <a:path w="272449" h="31361">
                    <a:moveTo>
                      <a:pt x="15680" y="0"/>
                    </a:moveTo>
                    <a:lnTo>
                      <a:pt x="256769" y="0"/>
                    </a:lnTo>
                    <a:cubicBezTo>
                      <a:pt x="260928" y="0"/>
                      <a:pt x="264916" y="1652"/>
                      <a:pt x="267857" y="4593"/>
                    </a:cubicBezTo>
                    <a:cubicBezTo>
                      <a:pt x="270797" y="7533"/>
                      <a:pt x="272449" y="11522"/>
                      <a:pt x="272449" y="15680"/>
                    </a:cubicBezTo>
                    <a:lnTo>
                      <a:pt x="272449" y="15680"/>
                    </a:lnTo>
                    <a:cubicBezTo>
                      <a:pt x="272449" y="19839"/>
                      <a:pt x="270797" y="23827"/>
                      <a:pt x="267857" y="26768"/>
                    </a:cubicBezTo>
                    <a:cubicBezTo>
                      <a:pt x="264916" y="29709"/>
                      <a:pt x="260928" y="31361"/>
                      <a:pt x="256769" y="31361"/>
                    </a:cubicBezTo>
                    <a:lnTo>
                      <a:pt x="15680" y="31361"/>
                    </a:lnTo>
                    <a:cubicBezTo>
                      <a:pt x="11522" y="31361"/>
                      <a:pt x="7533" y="29709"/>
                      <a:pt x="4593" y="26768"/>
                    </a:cubicBezTo>
                    <a:cubicBezTo>
                      <a:pt x="1652" y="23827"/>
                      <a:pt x="0" y="19839"/>
                      <a:pt x="0" y="15680"/>
                    </a:cubicBezTo>
                    <a:lnTo>
                      <a:pt x="0" y="15680"/>
                    </a:lnTo>
                    <a:cubicBezTo>
                      <a:pt x="0" y="11522"/>
                      <a:pt x="1652" y="7533"/>
                      <a:pt x="4593" y="4593"/>
                    </a:cubicBezTo>
                    <a:cubicBezTo>
                      <a:pt x="7533" y="1652"/>
                      <a:pt x="11522" y="0"/>
                      <a:pt x="15680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272449" cy="78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-86752" y="199959"/>
              <a:ext cx="5005191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 dirty="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Features &amp; USP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028698" y="1630066"/>
            <a:ext cx="16717916" cy="32137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5"/>
          <p:cNvSpPr txBox="1"/>
          <p:nvPr/>
        </p:nvSpPr>
        <p:spPr>
          <a:xfrm>
            <a:off x="525847" y="3486156"/>
            <a:ext cx="7067151" cy="946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defRPr sz="1300">
                <a:solidFill>
                  <a:srgbClr val="1A0A4A"/>
                </a:solidFill>
                <a:latin typeface="Helvetica World"/>
              </a:defRPr>
            </a:pPr>
            <a:r>
              <a:rPr lang="en-IN" sz="2050" dirty="0">
                <a:solidFill>
                  <a:srgbClr val="1A0A4A"/>
                </a:solidFill>
                <a:latin typeface="Helvetica World"/>
              </a:rPr>
              <a:t>The Teensy 4.1 collects, timestamps, and validates environmental, illumination, motion, and GPS data before transmitting telemetry to the ground station via 433 MHz LoRa</a:t>
            </a:r>
            <a:endParaRPr sz="2050" dirty="0"/>
          </a:p>
        </p:txBody>
      </p:sp>
      <p:pic>
        <p:nvPicPr>
          <p:cNvPr id="27" name="Picture 26" descr="slide3_system_block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18" y="5054915"/>
            <a:ext cx="7989147" cy="502555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780568" y="3446365"/>
            <a:ext cx="4322441" cy="25469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763000" y="3298014"/>
            <a:ext cx="4365410" cy="704081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League Spartan"/>
              </a:rPr>
              <a:t>    REAL-TIME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969" y="4363113"/>
            <a:ext cx="4137475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50">
                <a:solidFill>
                  <a:srgbClr val="1A0A4A"/>
                </a:solidFill>
                <a:latin typeface="Helvetica World"/>
              </a:defRPr>
            </a:pPr>
            <a:r>
              <a:rPr lang="en-IN" sz="1900" dirty="0">
                <a:solidFill>
                  <a:srgbClr val="1A0A4A"/>
                </a:solidFill>
                <a:latin typeface="Helvetica World"/>
              </a:rPr>
              <a:t>433 MHz LoRa transmits live sensor, GPS, and motion data to the ground station.</a:t>
            </a:r>
            <a:endParaRPr sz="1900" dirty="0"/>
          </a:p>
        </p:txBody>
      </p:sp>
      <p:sp>
        <p:nvSpPr>
          <p:cNvPr id="32" name="Rounded Rectangle 31"/>
          <p:cNvSpPr/>
          <p:nvPr/>
        </p:nvSpPr>
        <p:spPr>
          <a:xfrm>
            <a:off x="13537992" y="3433722"/>
            <a:ext cx="4641980" cy="25338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13494934" y="3291040"/>
            <a:ext cx="4728097" cy="611251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League Spartan"/>
              </a:rPr>
              <a:t>  GPS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08576" y="4546341"/>
            <a:ext cx="4215384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50">
                <a:solidFill>
                  <a:srgbClr val="1A0A4A"/>
                </a:solidFill>
                <a:latin typeface="Helvetica World"/>
              </a:defRPr>
            </a:pPr>
            <a:r>
              <a:rPr lang="en-IN" sz="1900" dirty="0">
                <a:solidFill>
                  <a:srgbClr val="1A0A4A"/>
                </a:solidFill>
                <a:latin typeface="Helvetica World"/>
              </a:rPr>
              <a:t>NEO-6M provides position, altitude, speed, satellite count, and HDOP.</a:t>
            </a:r>
            <a:endParaRPr sz="1900" dirty="0"/>
          </a:p>
        </p:txBody>
      </p:sp>
      <p:sp>
        <p:nvSpPr>
          <p:cNvPr id="35" name="Rounded Rectangle 34"/>
          <p:cNvSpPr/>
          <p:nvPr/>
        </p:nvSpPr>
        <p:spPr>
          <a:xfrm>
            <a:off x="8882176" y="6919352"/>
            <a:ext cx="4275572" cy="2360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874323" y="6542951"/>
            <a:ext cx="4322441" cy="777315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League Spartan"/>
              </a:rPr>
              <a:t>  🌡️  MULTI-DOMAIN SENSING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7737" y="7799496"/>
            <a:ext cx="3713490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50">
                <a:solidFill>
                  <a:srgbClr val="1A0A4A"/>
                </a:solidFill>
                <a:latin typeface="Helvetica World"/>
              </a:defRPr>
            </a:pPr>
            <a:r>
              <a:rPr lang="en-IN" sz="1900" dirty="0">
                <a:solidFill>
                  <a:srgbClr val="1A0A4A"/>
                </a:solidFill>
                <a:latin typeface="Helvetica World"/>
              </a:rPr>
              <a:t>Measures pressure, temperature, humidity, illumination, and 9-DOF motion.</a:t>
            </a:r>
            <a:endParaRPr sz="1900" dirty="0"/>
          </a:p>
        </p:txBody>
      </p:sp>
      <p:sp>
        <p:nvSpPr>
          <p:cNvPr id="38" name="Rounded Rectangle 37"/>
          <p:cNvSpPr/>
          <p:nvPr/>
        </p:nvSpPr>
        <p:spPr>
          <a:xfrm>
            <a:off x="13537992" y="6945932"/>
            <a:ext cx="4641981" cy="22657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ounded Rectangle 38"/>
          <p:cNvSpPr/>
          <p:nvPr/>
        </p:nvSpPr>
        <p:spPr>
          <a:xfrm>
            <a:off x="13537992" y="6559668"/>
            <a:ext cx="4641980" cy="719367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League Spartan"/>
              </a:rPr>
              <a:t>  CROSS-VALIDATION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21507" y="7979309"/>
            <a:ext cx="4215384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50">
                <a:solidFill>
                  <a:srgbClr val="1A0A4A"/>
                </a:solidFill>
                <a:latin typeface="Helvetica World"/>
              </a:defRPr>
            </a:pPr>
            <a:r>
              <a:rPr lang="en-IN" sz="1900" dirty="0">
                <a:solidFill>
                  <a:srgbClr val="1A0A4A"/>
                </a:solidFill>
                <a:latin typeface="Helvetica World"/>
              </a:rPr>
              <a:t>BME280 and SHT31 cross-check temperature and humidity readings.</a:t>
            </a:r>
            <a:endParaRPr sz="19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5CAE4755-B5E4-CD65-F675-6C583C748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376" y="3398434"/>
            <a:ext cx="430753" cy="46440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6571DBB-62A8-1F48-70FF-4F4B99148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8412" y="3386620"/>
            <a:ext cx="352650" cy="40425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4FC77EE-7953-AB65-3628-15399E3ED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251" y="6675919"/>
            <a:ext cx="476316" cy="45726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383E90B-ABF3-ED88-21A1-EF0A29ECB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29217" y="6728925"/>
            <a:ext cx="320068" cy="358171"/>
          </a:xfrm>
          <a:prstGeom prst="rect">
            <a:avLst/>
          </a:prstGeom>
        </p:spPr>
      </p:pic>
      <p:sp>
        <p:nvSpPr>
          <p:cNvPr id="46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47" t="-5733" r="-147202"/>
            </a:stretch>
          </a:blipFill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5342" y="0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533252" y="1453052"/>
            <a:ext cx="17221495" cy="9525"/>
            <a:chOff x="0" y="0"/>
            <a:chExt cx="17221505" cy="95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21459" cy="9525"/>
            </a:xfrm>
            <a:custGeom>
              <a:avLst/>
              <a:gdLst/>
              <a:ahLst/>
              <a:cxnLst/>
              <a:rect l="l" t="t" r="r" b="b"/>
              <a:pathLst>
                <a:path w="17221459" h="9525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 rot="-31603">
            <a:off x="525527" y="1736596"/>
            <a:ext cx="17221495" cy="9525"/>
            <a:chOff x="0" y="0"/>
            <a:chExt cx="17221505" cy="9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21459" cy="9525"/>
            </a:xfrm>
            <a:custGeom>
              <a:avLst/>
              <a:gdLst/>
              <a:ahLst/>
              <a:cxnLst/>
              <a:rect l="l" t="t" r="r" b="b"/>
              <a:pathLst>
                <a:path w="17221459" h="9525">
                  <a:moveTo>
                    <a:pt x="0" y="9525"/>
                  </a:moveTo>
                  <a:lnTo>
                    <a:pt x="17221459" y="9525"/>
                  </a:lnTo>
                  <a:lnTo>
                    <a:pt x="172214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47" t="-5733" r="-14720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6527" y="424549"/>
            <a:ext cx="146304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Architecture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1398" y="1705309"/>
            <a:ext cx="3768867" cy="646095"/>
            <a:chOff x="0" y="0"/>
            <a:chExt cx="5467915" cy="1379275"/>
          </a:xfrm>
        </p:grpSpPr>
        <p:sp>
          <p:nvSpPr>
            <p:cNvPr id="11" name="AutoShape 11"/>
            <p:cNvSpPr/>
            <p:nvPr/>
          </p:nvSpPr>
          <p:spPr>
            <a:xfrm>
              <a:off x="74717" y="1373652"/>
              <a:ext cx="5393198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2" name="Group 12"/>
            <p:cNvGrpSpPr/>
            <p:nvPr/>
          </p:nvGrpSpPr>
          <p:grpSpPr>
            <a:xfrm rot="5400000">
              <a:off x="-614921" y="614921"/>
              <a:ext cx="1379275" cy="149433"/>
              <a:chOff x="0" y="0"/>
              <a:chExt cx="272449" cy="2951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2449" cy="29518"/>
              </a:xfrm>
              <a:custGeom>
                <a:avLst/>
                <a:gdLst/>
                <a:ahLst/>
                <a:cxnLst/>
                <a:rect l="l" t="t" r="r" b="b"/>
                <a:pathLst>
                  <a:path w="272449" h="29518">
                    <a:moveTo>
                      <a:pt x="14759" y="0"/>
                    </a:moveTo>
                    <a:lnTo>
                      <a:pt x="257690" y="0"/>
                    </a:lnTo>
                    <a:cubicBezTo>
                      <a:pt x="261605" y="0"/>
                      <a:pt x="265359" y="1555"/>
                      <a:pt x="268127" y="4323"/>
                    </a:cubicBezTo>
                    <a:cubicBezTo>
                      <a:pt x="270894" y="7091"/>
                      <a:pt x="272449" y="10845"/>
                      <a:pt x="272449" y="14759"/>
                    </a:cubicBezTo>
                    <a:lnTo>
                      <a:pt x="272449" y="14759"/>
                    </a:lnTo>
                    <a:cubicBezTo>
                      <a:pt x="272449" y="18673"/>
                      <a:pt x="270894" y="22427"/>
                      <a:pt x="268127" y="25195"/>
                    </a:cubicBezTo>
                    <a:cubicBezTo>
                      <a:pt x="265359" y="27963"/>
                      <a:pt x="261605" y="29518"/>
                      <a:pt x="257690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72449" cy="77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067931" y="1844924"/>
            <a:ext cx="3611144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 Stack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662990" y="2544832"/>
            <a:ext cx="4250684" cy="1177206"/>
            <a:chOff x="0" y="0"/>
            <a:chExt cx="5667578" cy="1569608"/>
          </a:xfrm>
        </p:grpSpPr>
        <p:sp>
          <p:nvSpPr>
            <p:cNvPr id="17" name="Freeform 17"/>
            <p:cNvSpPr/>
            <p:nvPr/>
          </p:nvSpPr>
          <p:spPr>
            <a:xfrm>
              <a:off x="5286912" y="1188941"/>
              <a:ext cx="380667" cy="380667"/>
            </a:xfrm>
            <a:custGeom>
              <a:avLst/>
              <a:gdLst/>
              <a:ahLst/>
              <a:cxnLst/>
              <a:rect l="l" t="t" r="r" b="b"/>
              <a:pathLst>
                <a:path w="380667" h="380667">
                  <a:moveTo>
                    <a:pt x="0" y="0"/>
                  </a:moveTo>
                  <a:lnTo>
                    <a:pt x="380666" y="0"/>
                  </a:lnTo>
                  <a:lnTo>
                    <a:pt x="380666" y="380667"/>
                  </a:lnTo>
                  <a:lnTo>
                    <a:pt x="0" y="38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AutoShape 18"/>
            <p:cNvSpPr/>
            <p:nvPr/>
          </p:nvSpPr>
          <p:spPr>
            <a:xfrm>
              <a:off x="84047" y="1373652"/>
              <a:ext cx="5393198" cy="0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 rot="5400000">
              <a:off x="-610256" y="610256"/>
              <a:ext cx="1379275" cy="158763"/>
              <a:chOff x="0" y="0"/>
              <a:chExt cx="272449" cy="313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72449" cy="31361"/>
              </a:xfrm>
              <a:custGeom>
                <a:avLst/>
                <a:gdLst/>
                <a:ahLst/>
                <a:cxnLst/>
                <a:rect l="l" t="t" r="r" b="b"/>
                <a:pathLst>
                  <a:path w="272449" h="31361">
                    <a:moveTo>
                      <a:pt x="15680" y="0"/>
                    </a:moveTo>
                    <a:lnTo>
                      <a:pt x="256769" y="0"/>
                    </a:lnTo>
                    <a:cubicBezTo>
                      <a:pt x="260928" y="0"/>
                      <a:pt x="264916" y="1652"/>
                      <a:pt x="267857" y="4593"/>
                    </a:cubicBezTo>
                    <a:cubicBezTo>
                      <a:pt x="270797" y="7533"/>
                      <a:pt x="272449" y="11522"/>
                      <a:pt x="272449" y="15680"/>
                    </a:cubicBezTo>
                    <a:lnTo>
                      <a:pt x="272449" y="15680"/>
                    </a:lnTo>
                    <a:cubicBezTo>
                      <a:pt x="272449" y="19839"/>
                      <a:pt x="270797" y="23827"/>
                      <a:pt x="267857" y="26768"/>
                    </a:cubicBezTo>
                    <a:cubicBezTo>
                      <a:pt x="264916" y="29709"/>
                      <a:pt x="260928" y="31361"/>
                      <a:pt x="256769" y="31361"/>
                    </a:cubicBezTo>
                    <a:lnTo>
                      <a:pt x="15680" y="31361"/>
                    </a:lnTo>
                    <a:cubicBezTo>
                      <a:pt x="11522" y="31361"/>
                      <a:pt x="7533" y="29709"/>
                      <a:pt x="4593" y="26768"/>
                    </a:cubicBezTo>
                    <a:cubicBezTo>
                      <a:pt x="1652" y="23827"/>
                      <a:pt x="0" y="19839"/>
                      <a:pt x="0" y="15680"/>
                    </a:cubicBezTo>
                    <a:lnTo>
                      <a:pt x="0" y="15680"/>
                    </a:lnTo>
                    <a:cubicBezTo>
                      <a:pt x="0" y="11522"/>
                      <a:pt x="1652" y="7533"/>
                      <a:pt x="4593" y="4593"/>
                    </a:cubicBezTo>
                    <a:cubicBezTo>
                      <a:pt x="7533" y="1652"/>
                      <a:pt x="11522" y="0"/>
                      <a:pt x="15680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272449" cy="78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281720" y="-57150"/>
              <a:ext cx="5005192" cy="1337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 Architecture Diagram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1722621" y="1263536"/>
            <a:ext cx="16375635" cy="1874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Rectangle 25"/>
          <p:cNvSpPr/>
          <p:nvPr/>
        </p:nvSpPr>
        <p:spPr>
          <a:xfrm>
            <a:off x="523834" y="2439986"/>
            <a:ext cx="7172366" cy="476310"/>
          </a:xfrm>
          <a:prstGeom prst="rect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League Spartan"/>
              </a:rPr>
              <a:t>  FLIGHT HARDWARE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677" y="2916296"/>
            <a:ext cx="7040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Teensy 4.1  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600 MHz ARM M7 flight computer</a:t>
            </a:r>
            <a:endParaRPr sz="1600" dirty="0">
              <a:solidFill>
                <a:schemeClr val="accent4">
                  <a:lumMod val="50000"/>
                </a:schemeClr>
              </a:solidFill>
              <a:latin typeface="Helvetica World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92677" y="3331888"/>
            <a:ext cx="7015480" cy="362396"/>
          </a:xfrm>
          <a:prstGeom prst="rect">
            <a:avLst/>
          </a:prstGeom>
          <a:solidFill>
            <a:srgbClr val="F0EC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BME280      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Pressure, temperature, humidity</a:t>
            </a:r>
            <a:endParaRPr sz="1600" dirty="0">
              <a:solidFill>
                <a:schemeClr val="accent4">
                  <a:lumMod val="50000"/>
                </a:schemeClr>
              </a:solidFill>
              <a:latin typeface="Helvetica World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0769" y="3707661"/>
            <a:ext cx="6997388" cy="448147"/>
          </a:xfrm>
          <a:prstGeom prst="rect">
            <a:avLst/>
          </a:prstGeom>
          <a:solidFill>
            <a:srgbClr val="FFFF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SHT31 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Independent precision temp + humidity cross-check channel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197" y="4154617"/>
            <a:ext cx="7010949" cy="520434"/>
          </a:xfrm>
          <a:prstGeom prst="rect">
            <a:avLst/>
          </a:prstGeom>
          <a:solidFill>
            <a:srgbClr val="F0EC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endParaRPr lang="en-IN" sz="1600" b="1" dirty="0">
              <a:solidFill>
                <a:srgbClr val="2F0D8D"/>
              </a:solidFill>
              <a:latin typeface="League Spartan"/>
            </a:endParaRPr>
          </a:p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VEML6030    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Ambient illumination sensing</a:t>
            </a:r>
          </a:p>
          <a:p>
            <a:endParaRPr sz="1600" dirty="0">
              <a:solidFill>
                <a:srgbClr val="1A0A4A"/>
              </a:solidFill>
              <a:latin typeface="Helvetica Worl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93298" y="4696034"/>
            <a:ext cx="7040880" cy="480919"/>
          </a:xfrm>
          <a:prstGeom prst="rect">
            <a:avLst/>
          </a:prstGeom>
          <a:solidFill>
            <a:srgbClr val="FFFF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endParaRPr lang="en-IN" sz="1600" b="1" dirty="0">
              <a:solidFill>
                <a:srgbClr val="2F0D8D"/>
              </a:solidFill>
              <a:latin typeface="League Spartan"/>
            </a:endParaRPr>
          </a:p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LSM9DS1        </a:t>
            </a:r>
            <a:r>
              <a:rPr sz="1600" dirty="0">
                <a:solidFill>
                  <a:schemeClr val="accent4">
                    <a:lumMod val="50000"/>
                  </a:schemeClr>
                </a:solidFill>
                <a:latin typeface="Helvetica World"/>
              </a:rPr>
              <a:t>| 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9-DOF accelerometer, gyroscope, magnetometer</a:t>
            </a:r>
          </a:p>
          <a:p>
            <a:endParaRPr sz="1600" dirty="0">
              <a:solidFill>
                <a:srgbClr val="1A0A4A"/>
              </a:solidFill>
              <a:latin typeface="Helvetica Worl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0019" y="5202639"/>
            <a:ext cx="7066280" cy="458112"/>
          </a:xfrm>
          <a:prstGeom prst="rect">
            <a:avLst/>
          </a:prstGeom>
          <a:solidFill>
            <a:srgbClr val="F0EC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NEO-6M GPS  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Position, altitude, speed, HDOP</a:t>
            </a:r>
            <a:endParaRPr sz="1600" dirty="0">
              <a:solidFill>
                <a:schemeClr val="accent4">
                  <a:lumMod val="50000"/>
                </a:schemeClr>
              </a:solidFill>
              <a:latin typeface="Helvetica World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7045" y="5797455"/>
            <a:ext cx="7056512" cy="485637"/>
          </a:xfrm>
          <a:prstGeom prst="rect">
            <a:avLst/>
          </a:prstGeom>
          <a:solidFill>
            <a:srgbClr val="632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50" b="1">
                <a:solidFill>
                  <a:srgbClr val="FFFFFF"/>
                </a:solidFill>
                <a:latin typeface="League Spartan"/>
              </a:rPr>
              <a:t>  COMMUNICATION &amp; SOFTWARE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81928"/>
            <a:ext cx="7040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250" b="1" dirty="0">
                <a:solidFill>
                  <a:srgbClr val="2F0D8D"/>
                </a:solidFill>
                <a:latin typeface="League Spartan"/>
              </a:rPr>
              <a:t>AS32-TTL-100    </a:t>
            </a:r>
            <a:r>
              <a:rPr sz="1150" dirty="0">
                <a:solidFill>
                  <a:srgbClr val="1A0A4A"/>
                </a:solidFill>
                <a:latin typeface="Helvetica World"/>
              </a:rPr>
              <a:t>|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433 MHz LoRa radio; airborne long-range transmitter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7198" y="6647688"/>
            <a:ext cx="7050882" cy="460088"/>
          </a:xfrm>
          <a:prstGeom prst="rect">
            <a:avLst/>
          </a:prstGeom>
          <a:solidFill>
            <a:srgbClr val="F0EC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E32-433T30D  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Ground-side 433 MHz LoRa receiver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7107777"/>
            <a:ext cx="7066280" cy="574111"/>
          </a:xfrm>
          <a:prstGeom prst="rect">
            <a:avLst/>
          </a:prstGeom>
          <a:solidFill>
            <a:srgbClr val="FFFF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C++ / Arduino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Embedded firmware language and real-time environment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7669188"/>
            <a:ext cx="7040880" cy="339398"/>
          </a:xfrm>
          <a:prstGeom prst="rect">
            <a:avLst/>
          </a:prstGeom>
          <a:solidFill>
            <a:srgbClr val="F0EC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r>
              <a:rPr sz="1600" b="1" dirty="0" err="1">
                <a:solidFill>
                  <a:srgbClr val="2F0D8D"/>
                </a:solidFill>
                <a:latin typeface="League Spartan"/>
              </a:rPr>
              <a:t>TinyGPS</a:t>
            </a:r>
            <a:r>
              <a:rPr sz="1600" b="1" dirty="0">
                <a:solidFill>
                  <a:srgbClr val="2F0D8D"/>
                </a:solidFill>
                <a:latin typeface="League Spartan"/>
              </a:rPr>
              <a:t>++  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Lightweight NMEA stream parser for navigation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7198" y="8008587"/>
            <a:ext cx="7040881" cy="585479"/>
          </a:xfrm>
          <a:prstGeom prst="rect">
            <a:avLst/>
          </a:prstGeom>
          <a:solidFill>
            <a:srgbClr val="FFFFFF"/>
          </a:solidFill>
          <a:ln w="9525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Mission Planner 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|  </a:t>
            </a:r>
            <a:r>
              <a:rPr sz="1600" dirty="0" err="1">
                <a:solidFill>
                  <a:srgbClr val="1A0A4A"/>
                </a:solidFill>
                <a:latin typeface="Helvetica World"/>
              </a:rPr>
              <a:t>ArduPilot</a:t>
            </a:r>
            <a:r>
              <a:rPr sz="1600" dirty="0">
                <a:solidFill>
                  <a:srgbClr val="1A0A4A"/>
                </a:solidFill>
                <a:latin typeface="Helvetica World"/>
              </a:rPr>
              <a:t> telemetry display &amp; drone mission mapping</a:t>
            </a:r>
          </a:p>
        </p:txBody>
      </p:sp>
      <p:pic>
        <p:nvPicPr>
          <p:cNvPr id="45" name="Picture 44" descr="slide4_technical_architectu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455" y="1361904"/>
            <a:ext cx="9601200" cy="685956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8166201" y="8432212"/>
            <a:ext cx="9588500" cy="522741"/>
          </a:xfrm>
          <a:prstGeom prst="rect">
            <a:avLst/>
          </a:prstGeom>
          <a:solidFill>
            <a:srgbClr val="F0ECFF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rgbClr val="2F0D8D"/>
                </a:solidFill>
                <a:latin typeface="Helvetica World"/>
              </a:rPr>
              <a:t>Compact · Modular · Real-Time · Multi-Domain  |  Sensors → Teensy 4.1 → 433 MHz LoRa → Ground Station Live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0815" y="9244062"/>
            <a:ext cx="6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endParaRPr b="1" dirty="0">
              <a:solidFill>
                <a:srgbClr val="2F0D8D"/>
              </a:solidFill>
              <a:latin typeface="League Spart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914831" y="9304894"/>
            <a:ext cx="6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endParaRPr b="1" dirty="0">
              <a:solidFill>
                <a:srgbClr val="2F0D8D"/>
              </a:solidFill>
              <a:latin typeface="League Spartan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CC75939-AB6E-D6D7-5BA0-7835C097ED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29" y="9134201"/>
            <a:ext cx="1169702" cy="100363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59C200A7-95FA-9CBA-584C-4CE142BBD3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618" y="9145896"/>
            <a:ext cx="1161530" cy="103376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5499628-70E9-5FA9-764E-CB31A2056B9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04" y="9156344"/>
            <a:ext cx="1264288" cy="107033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87BF4E8-7660-D33B-7599-0D2A68FE52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3877" y="9341975"/>
            <a:ext cx="2135981" cy="75506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C3FD2B64-36E6-CD62-0817-2C07372C7D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7084" y="9320189"/>
            <a:ext cx="2586471" cy="7986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8FD76D5-0203-416C-FCF8-0075663DD81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607" y="9186332"/>
            <a:ext cx="1181838" cy="94098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5DA3566-CF6D-A501-A806-B6C850553C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28597" y="9294073"/>
            <a:ext cx="2176146" cy="76873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64967C8-9259-9DCC-72CC-3CDB57B334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866" y="9202950"/>
            <a:ext cx="1329609" cy="934886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6763" y="9244062"/>
            <a:ext cx="911847" cy="851189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839" y="-122398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3" name="TextBox 3"/>
          <p:cNvSpPr txBox="1"/>
          <p:nvPr/>
        </p:nvSpPr>
        <p:spPr>
          <a:xfrm>
            <a:off x="1596710" y="692707"/>
            <a:ext cx="13317227" cy="56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6"/>
              </a:lnSpc>
            </a:pPr>
            <a:r>
              <a:rPr lang="en-US" sz="4500" dirty="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Working of the Solution and Demonstration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1028698" y="1630066"/>
            <a:ext cx="16717916" cy="32137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627109" y="4054250"/>
            <a:ext cx="3253890" cy="40640"/>
          </a:xfrm>
          <a:prstGeom prst="line">
            <a:avLst/>
          </a:prstGeom>
          <a:ln w="28575" cap="flat">
            <a:solidFill>
              <a:srgbClr val="CABAE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207141" y="3646547"/>
            <a:ext cx="646421" cy="149091"/>
            <a:chOff x="0" y="0"/>
            <a:chExt cx="170251" cy="392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0251" cy="39267"/>
            </a:xfrm>
            <a:custGeom>
              <a:avLst/>
              <a:gdLst/>
              <a:ahLst/>
              <a:cxnLst/>
              <a:rect l="l" t="t" r="r" b="b"/>
              <a:pathLst>
                <a:path w="170251" h="39267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2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4055" y="3506002"/>
            <a:ext cx="3753894" cy="50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920747" y="4009788"/>
            <a:ext cx="4044899" cy="0"/>
          </a:xfrm>
          <a:prstGeom prst="line">
            <a:avLst/>
          </a:prstGeom>
          <a:ln w="28575" cap="flat">
            <a:solidFill>
              <a:srgbClr val="CABAE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5342165" y="3672700"/>
            <a:ext cx="646421" cy="149091"/>
            <a:chOff x="0" y="0"/>
            <a:chExt cx="170251" cy="392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0251" cy="39267"/>
            </a:xfrm>
            <a:custGeom>
              <a:avLst/>
              <a:gdLst/>
              <a:ahLst/>
              <a:cxnLst/>
              <a:rect l="l" t="t" r="r" b="b"/>
              <a:pathLst>
                <a:path w="170251" h="39267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2"/>
                </a:lnSpc>
              </a:pPr>
              <a:endParaRPr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90106" y="3404277"/>
            <a:ext cx="3753894" cy="440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dirty="0" err="1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CanSat</a:t>
            </a: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Images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12519442" y="3903698"/>
            <a:ext cx="4180486" cy="45092"/>
          </a:xfrm>
          <a:prstGeom prst="line">
            <a:avLst/>
          </a:prstGeom>
          <a:ln w="28575" cap="flat">
            <a:solidFill>
              <a:srgbClr val="CABAE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dirty="0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2037502" y="3377495"/>
            <a:ext cx="796094" cy="357196"/>
            <a:chOff x="0" y="-47625"/>
            <a:chExt cx="209671" cy="94077"/>
          </a:xfrm>
        </p:grpSpPr>
        <p:sp>
          <p:nvSpPr>
            <p:cNvPr id="23" name="Freeform 23"/>
            <p:cNvSpPr/>
            <p:nvPr/>
          </p:nvSpPr>
          <p:spPr>
            <a:xfrm>
              <a:off x="39420" y="7185"/>
              <a:ext cx="170251" cy="39267"/>
            </a:xfrm>
            <a:custGeom>
              <a:avLst/>
              <a:gdLst/>
              <a:ahLst/>
              <a:cxnLst/>
              <a:rect l="l" t="t" r="r" b="b"/>
              <a:pathLst>
                <a:path w="170251" h="39267">
                  <a:moveTo>
                    <a:pt x="19633" y="0"/>
                  </a:moveTo>
                  <a:lnTo>
                    <a:pt x="150617" y="0"/>
                  </a:lnTo>
                  <a:cubicBezTo>
                    <a:pt x="155825" y="0"/>
                    <a:pt x="160818" y="2069"/>
                    <a:pt x="164500" y="5750"/>
                  </a:cubicBezTo>
                  <a:cubicBezTo>
                    <a:pt x="168182" y="9432"/>
                    <a:pt x="170251" y="14426"/>
                    <a:pt x="170251" y="19633"/>
                  </a:cubicBezTo>
                  <a:lnTo>
                    <a:pt x="170251" y="19633"/>
                  </a:lnTo>
                  <a:cubicBezTo>
                    <a:pt x="170251" y="30477"/>
                    <a:pt x="161461" y="39267"/>
                    <a:pt x="150617" y="39267"/>
                  </a:cubicBezTo>
                  <a:lnTo>
                    <a:pt x="19633" y="39267"/>
                  </a:lnTo>
                  <a:cubicBezTo>
                    <a:pt x="14426" y="39267"/>
                    <a:pt x="9432" y="37198"/>
                    <a:pt x="5750" y="33516"/>
                  </a:cubicBezTo>
                  <a:cubicBezTo>
                    <a:pt x="2069" y="29834"/>
                    <a:pt x="0" y="24841"/>
                    <a:pt x="0" y="19633"/>
                  </a:cubicBezTo>
                  <a:lnTo>
                    <a:pt x="0" y="19633"/>
                  </a:lnTo>
                  <a:cubicBezTo>
                    <a:pt x="0" y="14426"/>
                    <a:pt x="2069" y="9432"/>
                    <a:pt x="5750" y="5750"/>
                  </a:cubicBezTo>
                  <a:cubicBezTo>
                    <a:pt x="9432" y="2069"/>
                    <a:pt x="14426" y="0"/>
                    <a:pt x="19633" y="0"/>
                  </a:cubicBezTo>
                  <a:close/>
                </a:path>
              </a:pathLst>
            </a:custGeom>
            <a:solidFill>
              <a:srgbClr val="6E2AF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0251" cy="86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2"/>
                </a:lnSpc>
              </a:pPr>
              <a:endParaRPr dirty="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43893" y="3394213"/>
            <a:ext cx="3753894" cy="50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1828800"/>
            <a:ext cx="3977639" cy="621792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League Spartan"/>
              </a:rPr>
              <a:t>🚀  LAUNCH &amp; EJECTION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1828800"/>
            <a:ext cx="3977639" cy="621792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League Spartan"/>
              </a:rPr>
              <a:t>🌡️  SENSE &amp; PROCESS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828800"/>
            <a:ext cx="3977639" cy="621792"/>
          </a:xfrm>
          <a:prstGeom prst="roundRect">
            <a:avLst/>
          </a:prstGeom>
          <a:solidFill>
            <a:srgbClr val="00A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League Spartan"/>
              </a:rPr>
              <a:t>📡  TRANSMIT — 433 MHz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13080" y="1828800"/>
            <a:ext cx="3977639" cy="621792"/>
          </a:xfrm>
          <a:prstGeom prst="roundRect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League Spartan"/>
              </a:rPr>
              <a:t>🖥️  GROUND DISPLAY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480560" y="2011680"/>
            <a:ext cx="182880" cy="256032"/>
          </a:xfrm>
          <a:prstGeom prst="rightArrow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8732520" y="2011680"/>
            <a:ext cx="182880" cy="256032"/>
          </a:xfrm>
          <a:prstGeom prst="rightArrow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12984480" y="2011680"/>
            <a:ext cx="182880" cy="256032"/>
          </a:xfrm>
          <a:prstGeom prst="rightArrow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4501" y="2588364"/>
            <a:ext cx="397763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dirty="0" err="1">
                <a:solidFill>
                  <a:srgbClr val="1A0A4A"/>
                </a:solidFill>
                <a:latin typeface="Helvetica World"/>
              </a:rPr>
              <a:t>CanSat</a:t>
            </a:r>
            <a:r>
              <a:rPr dirty="0">
                <a:solidFill>
                  <a:srgbClr val="1A0A4A"/>
                </a:solidFill>
                <a:latin typeface="Helvetica World"/>
              </a:rPr>
              <a:t> ejected from carrier vehicle; mission timer starts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7913" y="2576337"/>
            <a:ext cx="397763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dirty="0">
                <a:solidFill>
                  <a:srgbClr val="1A0A4A"/>
                </a:solidFill>
                <a:latin typeface="Helvetica World"/>
              </a:rPr>
              <a:t>9 sensors sampled; Teensy 4.1 encodes telemetry packets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601288"/>
            <a:ext cx="397763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dirty="0">
                <a:solidFill>
                  <a:srgbClr val="1A0A4A"/>
                </a:solidFill>
                <a:latin typeface="Helvetica World"/>
              </a:rPr>
              <a:t>LoRa radio broadcasts structured packets every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13080" y="2716471"/>
            <a:ext cx="397763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dirty="0">
                <a:solidFill>
                  <a:srgbClr val="1A0A4A"/>
                </a:solidFill>
                <a:latin typeface="Helvetica World"/>
              </a:rPr>
              <a:t>Ground station decodes, logs, plots and maps live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937760"/>
            <a:ext cx="2279021" cy="20650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57200" y="4759596"/>
            <a:ext cx="2331720" cy="470772"/>
          </a:xfrm>
          <a:prstGeom prst="round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League Spartan"/>
              </a:rPr>
              <a:t>POWER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257800"/>
            <a:ext cx="2185416" cy="1322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050">
                <a:solidFill>
                  <a:srgbClr val="1A0A4A"/>
                </a:solidFill>
                <a:latin typeface="Helvetica World"/>
              </a:defRPr>
            </a:pPr>
            <a:r>
              <a:rPr sz="1900" dirty="0"/>
              <a:t>Sensors initialize; GPS acquires 3D fix; hard</a:t>
            </a:r>
            <a:r>
              <a:rPr lang="en-IN" sz="1900" dirty="0" err="1"/>
              <a:t>wa</a:t>
            </a:r>
            <a:r>
              <a:rPr sz="1900" dirty="0"/>
              <a:t>re health check passes.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4937760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926080" y="4759596"/>
            <a:ext cx="2331720" cy="470772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League Spartan"/>
              </a:rPr>
              <a:t>LAUNCH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5257800"/>
            <a:ext cx="2182101" cy="1322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050">
                <a:solidFill>
                  <a:srgbClr val="1A0A4A"/>
                </a:solidFill>
                <a:latin typeface="Helvetica World"/>
              </a:defRPr>
            </a:pPr>
            <a:r>
              <a:rPr sz="1900" dirty="0" err="1"/>
              <a:t>CanSat</a:t>
            </a:r>
            <a:r>
              <a:rPr sz="1900" dirty="0"/>
              <a:t> ejected from carrier at apogee; mission timer begins automatically</a:t>
            </a:r>
            <a:r>
              <a:rPr sz="1400" dirty="0"/>
              <a:t>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26750" y="7393939"/>
            <a:ext cx="2497546" cy="2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026750" y="7107745"/>
            <a:ext cx="2471997" cy="492443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League Spartan"/>
              </a:rPr>
              <a:t>DESCENT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2339" y="7704535"/>
            <a:ext cx="2185416" cy="1322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050">
                <a:solidFill>
                  <a:srgbClr val="1A0A4A"/>
                </a:solidFill>
                <a:latin typeface="Helvetica World"/>
              </a:defRPr>
            </a:pPr>
            <a:r>
              <a:rPr sz="1900" dirty="0"/>
              <a:t>Parachute deploys; continuous descent telemetry; GPS tracks location.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7278624"/>
            <a:ext cx="2402922" cy="21211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55806" y="7094878"/>
            <a:ext cx="2381075" cy="503786"/>
          </a:xfrm>
          <a:prstGeom prst="roundRect">
            <a:avLst/>
          </a:prstGeom>
          <a:solidFill>
            <a:srgbClr val="00A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League Spartan"/>
              </a:rPr>
              <a:t>LANDING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7598664"/>
            <a:ext cx="2132979" cy="16583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050">
                <a:solidFill>
                  <a:srgbClr val="1A0A4A"/>
                </a:solidFill>
                <a:latin typeface="Helvetica World"/>
              </a:defRPr>
            </a:pPr>
            <a:r>
              <a:rPr lang="en-US" sz="1900" dirty="0"/>
              <a:t>Final landing GPS fix and battery status sent; mission elapsed time lo</a:t>
            </a:r>
            <a:r>
              <a:rPr lang="en-IN" sz="1900" dirty="0"/>
              <a:t>g</a:t>
            </a:r>
            <a:r>
              <a:rPr lang="en-US" sz="1900" dirty="0" err="1"/>
              <a:t>ged</a:t>
            </a:r>
            <a:r>
              <a:rPr lang="en-US" sz="1900" dirty="0"/>
              <a:t>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58749" y="7167879"/>
            <a:ext cx="4925456" cy="573024"/>
          </a:xfrm>
          <a:prstGeom prst="rect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League Spartan"/>
              </a:rPr>
              <a:t>CanSat</a:t>
            </a:r>
            <a:r>
              <a:rPr sz="1600" b="1" dirty="0">
                <a:solidFill>
                  <a:srgbClr val="FFFFFF"/>
                </a:solidFill>
                <a:latin typeface="League Spartan"/>
              </a:rPr>
              <a:t> Payload —+ LoRa TX + GPS + Battery</a:t>
            </a:r>
            <a:r>
              <a:rPr lang="en-IN" sz="1600" b="1" dirty="0">
                <a:solidFill>
                  <a:srgbClr val="FFFFFF"/>
                </a:solidFill>
                <a:latin typeface="League Spartan"/>
              </a:rPr>
              <a:t>Teensy 4.1 + 5 Sensors </a:t>
            </a:r>
            <a:endParaRPr sz="1600" b="1" dirty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2044429" y="4278826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ALTITUDE PROFILE — </a:t>
            </a:r>
            <a:r>
              <a:rPr sz="1600" b="1" dirty="0" err="1">
                <a:solidFill>
                  <a:srgbClr val="2F0D8D"/>
                </a:solidFill>
                <a:latin typeface="League Spartan"/>
              </a:rPr>
              <a:t>CanSat</a:t>
            </a:r>
            <a:r>
              <a:rPr sz="1600" b="1" dirty="0">
                <a:solidFill>
                  <a:srgbClr val="2F0D8D"/>
                </a:solidFill>
                <a:latin typeface="League Spartan"/>
              </a:rPr>
              <a:t> Mission (Simulated Telemetry)</a:t>
            </a:r>
          </a:p>
        </p:txBody>
      </p:sp>
      <p:graphicFrame>
        <p:nvGraphicFramePr>
          <p:cNvPr id="65" name="Chart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11657"/>
              </p:ext>
            </p:extLst>
          </p:nvPr>
        </p:nvGraphicFramePr>
        <p:xfrm>
          <a:off x="12835749" y="4839871"/>
          <a:ext cx="4894309" cy="1494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12092601" y="6498863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2F0D8D"/>
                </a:solidFill>
                <a:latin typeface="League Spartan"/>
              </a:rPr>
              <a:t>TEMPERATURE PROFILE — Descent Phase</a:t>
            </a:r>
          </a:p>
        </p:txBody>
      </p:sp>
      <p:graphicFrame>
        <p:nvGraphicFramePr>
          <p:cNvPr id="67" name="Chart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651186"/>
              </p:ext>
            </p:extLst>
          </p:nvPr>
        </p:nvGraphicFramePr>
        <p:xfrm>
          <a:off x="13167360" y="6858000"/>
          <a:ext cx="448056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8" name="Rectangle 67"/>
          <p:cNvSpPr/>
          <p:nvPr/>
        </p:nvSpPr>
        <p:spPr>
          <a:xfrm>
            <a:off x="10922507" y="8493101"/>
            <a:ext cx="54864" cy="502920"/>
          </a:xfrm>
          <a:prstGeom prst="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614147" y="8229154"/>
            <a:ext cx="54864" cy="502920"/>
          </a:xfrm>
          <a:prstGeom prst="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835749" y="8273796"/>
            <a:ext cx="1554480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dirty="0">
                <a:solidFill>
                  <a:srgbClr val="2F0D8D"/>
                </a:solidFill>
                <a:latin typeface="League Spartan"/>
              </a:rPr>
              <a:t>9 Params
</a:t>
            </a:r>
            <a:r>
              <a:rPr sz="1900" dirty="0">
                <a:solidFill>
                  <a:srgbClr val="1A0A4A"/>
                </a:solidFill>
                <a:latin typeface="Helvetica World"/>
              </a:rPr>
              <a:t>Logged in sync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264640" y="8247888"/>
            <a:ext cx="54864" cy="502920"/>
          </a:xfrm>
          <a:prstGeom prst="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4609685" y="8305980"/>
            <a:ext cx="1554480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dirty="0">
                <a:solidFill>
                  <a:srgbClr val="2F0D8D"/>
                </a:solidFill>
                <a:latin typeface="League Spartan"/>
              </a:rPr>
              <a:t>~2 s
</a:t>
            </a:r>
            <a:r>
              <a:rPr sz="1900" dirty="0">
                <a:solidFill>
                  <a:srgbClr val="1A0A4A"/>
                </a:solidFill>
                <a:latin typeface="Helvetica World"/>
              </a:rPr>
              <a:t>Packet interval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956280" y="8247888"/>
            <a:ext cx="54864" cy="502920"/>
          </a:xfrm>
          <a:prstGeom prst="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379790" y="8293493"/>
            <a:ext cx="1554480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dirty="0">
                <a:solidFill>
                  <a:srgbClr val="2F0D8D"/>
                </a:solidFill>
                <a:latin typeface="League Spartan"/>
              </a:rPr>
              <a:t>&gt;95%
</a:t>
            </a:r>
            <a:r>
              <a:rPr sz="1900" dirty="0">
                <a:solidFill>
                  <a:srgbClr val="1A0A4A"/>
                </a:solidFill>
                <a:latin typeface="Helvetica World"/>
              </a:rPr>
              <a:t>Packet delivery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079F340-C891-657D-F922-41B4B1CA2FA8}"/>
              </a:ext>
            </a:extLst>
          </p:cNvPr>
          <p:cNvSpPr/>
          <p:nvPr/>
        </p:nvSpPr>
        <p:spPr>
          <a:xfrm>
            <a:off x="11541985" y="9279853"/>
            <a:ext cx="6743904" cy="581766"/>
          </a:xfrm>
          <a:prstGeom prst="rect">
            <a:avLst/>
          </a:prstGeom>
          <a:solidFill>
            <a:srgbClr val="2F0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Helvetica World"/>
              </a:rPr>
              <a:t>Live Ground Station — Real-time telemetry decoded and displayed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9421578-2C65-3687-48F5-A84084E8C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375" y="4249415"/>
            <a:ext cx="5912205" cy="265750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875E7E0-D8F8-B1CF-7566-5436EA4E9F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593" y="7838038"/>
            <a:ext cx="4531346" cy="2093095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76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247" t="-5733" r="-147202"/>
            </a:stretch>
          </a:blipFill>
        </p:spPr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3678" y="-11430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904654" y="457126"/>
            <a:ext cx="6272887" cy="77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Benefits</a:t>
            </a:r>
          </a:p>
        </p:txBody>
      </p:sp>
      <p:sp>
        <p:nvSpPr>
          <p:cNvPr id="6" name="AutoShape 6"/>
          <p:cNvSpPr/>
          <p:nvPr/>
        </p:nvSpPr>
        <p:spPr>
          <a:xfrm>
            <a:off x="1329294" y="1436053"/>
            <a:ext cx="16717916" cy="32137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4084549" y="2843150"/>
            <a:ext cx="405903" cy="405903"/>
          </a:xfrm>
          <a:custGeom>
            <a:avLst/>
            <a:gdLst/>
            <a:ahLst/>
            <a:cxnLst/>
            <a:rect l="l" t="t" r="r" b="b"/>
            <a:pathLst>
              <a:path w="405903" h="405903">
                <a:moveTo>
                  <a:pt x="0" y="0"/>
                </a:moveTo>
                <a:lnTo>
                  <a:pt x="405902" y="0"/>
                </a:lnTo>
                <a:lnTo>
                  <a:pt x="405902" y="405903"/>
                </a:lnTo>
                <a:lnTo>
                  <a:pt x="0" y="405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50077" y="1551507"/>
            <a:ext cx="13140375" cy="571213"/>
            <a:chOff x="0" y="-133240"/>
            <a:chExt cx="17399791" cy="1358618"/>
          </a:xfrm>
        </p:grpSpPr>
        <p:sp>
          <p:nvSpPr>
            <p:cNvPr id="10" name="AutoShape 10"/>
            <p:cNvSpPr/>
            <p:nvPr/>
          </p:nvSpPr>
          <p:spPr>
            <a:xfrm>
              <a:off x="176396" y="1092140"/>
              <a:ext cx="17223395" cy="0"/>
            </a:xfrm>
            <a:prstGeom prst="line">
              <a:avLst/>
            </a:prstGeom>
            <a:ln w="508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 rot="5400000">
              <a:off x="-366609" y="233369"/>
              <a:ext cx="1358618" cy="625400"/>
              <a:chOff x="-18512" y="-47625"/>
              <a:chExt cx="188763" cy="8689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18512" y="0"/>
                <a:ext cx="170251" cy="39267"/>
              </a:xfrm>
              <a:custGeom>
                <a:avLst/>
                <a:gdLst/>
                <a:ahLst/>
                <a:cxnLst/>
                <a:rect l="l" t="t" r="r" b="b"/>
                <a:pathLst>
                  <a:path w="170251" h="39267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lIns="72224" tIns="72224" rIns="72224" bIns="72224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25400" y="-1527"/>
              <a:ext cx="13409620" cy="1048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 dirty="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                                  Social / Environmental / Governmental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64703" y="4757842"/>
            <a:ext cx="13087943" cy="614453"/>
            <a:chOff x="0" y="0"/>
            <a:chExt cx="17399791" cy="1225378"/>
          </a:xfrm>
        </p:grpSpPr>
        <p:sp>
          <p:nvSpPr>
            <p:cNvPr id="17" name="AutoShape 17"/>
            <p:cNvSpPr/>
            <p:nvPr/>
          </p:nvSpPr>
          <p:spPr>
            <a:xfrm>
              <a:off x="176396" y="1217384"/>
              <a:ext cx="17223395" cy="0"/>
            </a:xfrm>
            <a:prstGeom prst="line">
              <a:avLst/>
            </a:prstGeom>
            <a:ln w="508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8" name="Group 18"/>
            <p:cNvGrpSpPr/>
            <p:nvPr/>
          </p:nvGrpSpPr>
          <p:grpSpPr>
            <a:xfrm rot="5400000">
              <a:off x="-299989" y="299989"/>
              <a:ext cx="1225378" cy="625400"/>
              <a:chOff x="0" y="-47625"/>
              <a:chExt cx="170251" cy="8689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3538" y="-1109"/>
                <a:ext cx="156713" cy="40376"/>
              </a:xfrm>
              <a:custGeom>
                <a:avLst/>
                <a:gdLst/>
                <a:ahLst/>
                <a:cxnLst/>
                <a:rect l="l" t="t" r="r" b="b"/>
                <a:pathLst>
                  <a:path w="170251" h="39267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lIns="72224" tIns="72224" rIns="72224" bIns="72224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64761" y="332820"/>
              <a:ext cx="13409621" cy="587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 dirty="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                                      How solution addresses the problem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685800" y="2163720"/>
            <a:ext cx="3977639" cy="2588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lide6_icon_environmental_monito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19" y="2240280"/>
            <a:ext cx="685800" cy="685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2971800"/>
            <a:ext cx="3794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F0D8D"/>
                </a:solidFill>
                <a:latin typeface="League Spartan"/>
              </a:rPr>
              <a:t>Environmental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" y="3433568"/>
            <a:ext cx="3703319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Real-time atmospheric data supports microclimate analysis, climate research, and environmental monitoring.</a:t>
            </a:r>
            <a:endParaRPr sz="1900" dirty="0"/>
          </a:p>
        </p:txBody>
      </p:sp>
      <p:sp>
        <p:nvSpPr>
          <p:cNvPr id="26" name="Rounded Rectangle 25"/>
          <p:cNvSpPr/>
          <p:nvPr/>
        </p:nvSpPr>
        <p:spPr>
          <a:xfrm>
            <a:off x="4892040" y="2148840"/>
            <a:ext cx="397763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lide6_icon_precision_agricultu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59" y="2240280"/>
            <a:ext cx="685800" cy="685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83480" y="2971800"/>
            <a:ext cx="3794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F0D8D"/>
                </a:solidFill>
                <a:latin typeface="League Spartan"/>
              </a:rPr>
              <a:t>Precision Agriculture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0590" y="3422975"/>
            <a:ext cx="3703319" cy="9858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US" sz="1900" dirty="0"/>
              <a:t>Altitude-based sensing helps study crop microclimates, temperature variations, and heat stress.</a:t>
            </a:r>
            <a:endParaRPr sz="1900" dirty="0"/>
          </a:p>
        </p:txBody>
      </p:sp>
      <p:sp>
        <p:nvSpPr>
          <p:cNvPr id="30" name="Rounded Rectangle 29"/>
          <p:cNvSpPr/>
          <p:nvPr/>
        </p:nvSpPr>
        <p:spPr>
          <a:xfrm>
            <a:off x="9098280" y="2148840"/>
            <a:ext cx="397763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lide6_icon_disaster_respons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199" y="2240280"/>
            <a:ext cx="68580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10039" y="2920734"/>
            <a:ext cx="3794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Disaster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5760" y="3204187"/>
            <a:ext cx="3703319" cy="1322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US" sz="1900" dirty="0"/>
              <a:t>GPS-tracked telemetry supports aerial reconnaissance and atmospheric monitoring during extreme events.</a:t>
            </a:r>
            <a:endParaRPr sz="1900" dirty="0"/>
          </a:p>
        </p:txBody>
      </p:sp>
      <p:sp>
        <p:nvSpPr>
          <p:cNvPr id="34" name="Rounded Rectangle 33"/>
          <p:cNvSpPr/>
          <p:nvPr/>
        </p:nvSpPr>
        <p:spPr>
          <a:xfrm>
            <a:off x="13304520" y="2148840"/>
            <a:ext cx="397763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lide6_icon_accessible_aerospa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0439" y="2240280"/>
            <a:ext cx="685800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434561" y="2868676"/>
            <a:ext cx="37947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Accessible Aerospace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5679" y="3136922"/>
            <a:ext cx="3592525" cy="1322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US" sz="1900" dirty="0"/>
              <a:t>Affordable, modular hardware gives students hands-on experience in aerospace engineering and telemetry.</a:t>
            </a:r>
            <a:endParaRPr sz="1900" dirty="0"/>
          </a:p>
        </p:txBody>
      </p:sp>
      <p:sp>
        <p:nvSpPr>
          <p:cNvPr id="38" name="Rounded Rectangle 37"/>
          <p:cNvSpPr/>
          <p:nvPr/>
        </p:nvSpPr>
        <p:spPr>
          <a:xfrm>
            <a:off x="378460" y="5637956"/>
            <a:ext cx="4937760" cy="329184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League Spartan"/>
              </a:rPr>
              <a:t>  Real-Time Telemetry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8460" y="5986626"/>
            <a:ext cx="4513580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</a:t>
            </a:r>
            <a:r>
              <a:rPr sz="1900" dirty="0"/>
              <a:t>433 MHz LoRa link transmits live altitude, temperature, humidity, GPS, and motion data no post-recovery wait.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8459" y="7043271"/>
            <a:ext cx="4700739" cy="329184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League Spartan"/>
              </a:rPr>
              <a:t>  Multi-Sensor Environmental Sensing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847" y="7425147"/>
            <a:ext cx="4846320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</a:t>
            </a:r>
            <a:r>
              <a:rPr sz="1900" dirty="0"/>
              <a:t>BME280 + SHT31 + VEML6030 + LSM9DS1 provide cross-validated atmospheric, illumination, and motion data.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2739" y="8351382"/>
            <a:ext cx="4708359" cy="356024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League Spartan"/>
              </a:rPr>
              <a:t>  GPS Navigation &amp;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739" y="8893187"/>
            <a:ext cx="4937761" cy="877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defRPr sz="12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</a:t>
            </a:r>
            <a:r>
              <a:rPr sz="1900" dirty="0"/>
              <a:t>u-</a:t>
            </a:r>
            <a:r>
              <a:rPr sz="1900" dirty="0" err="1"/>
              <a:t>blox</a:t>
            </a:r>
            <a:r>
              <a:rPr sz="1900" dirty="0"/>
              <a:t> NEO-6M provides real-time position, altitude, speed, and satellite count — enabling aerial tracking.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16289" y="5517241"/>
            <a:ext cx="2456956" cy="2870927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Aerial Sensors
</a:t>
            </a:r>
          </a:p>
          <a:p>
            <a:pPr algn="ctr"/>
            <a:r>
              <a:rPr sz="1600" dirty="0">
                <a:solidFill>
                  <a:srgbClr val="484848"/>
                </a:solidFill>
                <a:latin typeface="Helvetica World"/>
              </a:rPr>
              <a:t>BME280 · SHT31 · VEML6030
LSM9DS1 · u-</a:t>
            </a:r>
            <a:r>
              <a:rPr sz="1600" dirty="0" err="1">
                <a:solidFill>
                  <a:srgbClr val="484848"/>
                </a:solidFill>
                <a:latin typeface="Helvetica World"/>
              </a:rPr>
              <a:t>blox</a:t>
            </a:r>
            <a:r>
              <a:rPr sz="1600" dirty="0">
                <a:solidFill>
                  <a:srgbClr val="484848"/>
                </a:solidFill>
                <a:latin typeface="Helvetica World"/>
              </a:rPr>
              <a:t> GPS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0210" y="5486399"/>
            <a:ext cx="2410968" cy="2870927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Teensy 4.1
</a:t>
            </a:r>
          </a:p>
          <a:p>
            <a:pPr algn="ctr"/>
            <a:r>
              <a:rPr sz="1600" dirty="0">
                <a:solidFill>
                  <a:srgbClr val="484848"/>
                </a:solidFill>
                <a:latin typeface="Helvetica World"/>
              </a:rPr>
              <a:t>Real-time processing,
timestamps &amp; validation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23043" y="5486399"/>
            <a:ext cx="2642616" cy="2826784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433 MHz LoRa
</a:t>
            </a:r>
          </a:p>
          <a:p>
            <a:pPr algn="ctr"/>
            <a:r>
              <a:rPr sz="1600" dirty="0">
                <a:solidFill>
                  <a:srgbClr val="484848"/>
                </a:solidFill>
                <a:latin typeface="Helvetica World"/>
              </a:rPr>
              <a:t>AS32-TTL-100 long-range
airborne radio broadcast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095099" y="5470156"/>
            <a:ext cx="2615183" cy="2834641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Ground Station
</a:t>
            </a:r>
          </a:p>
          <a:p>
            <a:pPr algn="ctr"/>
            <a:r>
              <a:rPr sz="1600" dirty="0">
                <a:solidFill>
                  <a:srgbClr val="484848"/>
                </a:solidFill>
                <a:latin typeface="Helvetica World"/>
              </a:rPr>
              <a:t>Live telemetry dashboard,
GPS track &amp; CSV logging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260898" y="5463032"/>
            <a:ext cx="2670962" cy="2870923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Intelligence
</a:t>
            </a:r>
          </a:p>
          <a:p>
            <a:pPr algn="ctr"/>
            <a:r>
              <a:rPr sz="1600" dirty="0">
                <a:solidFill>
                  <a:srgbClr val="484848"/>
                </a:solidFill>
                <a:latin typeface="Helvetica World"/>
              </a:rPr>
              <a:t>Localized atmospheric data,
heat stress &amp; hazard analysis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284464" y="5925311"/>
            <a:ext cx="343340" cy="277557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ght Arrow 49"/>
          <p:cNvSpPr/>
          <p:nvPr/>
        </p:nvSpPr>
        <p:spPr>
          <a:xfrm>
            <a:off x="10659998" y="5925311"/>
            <a:ext cx="343340" cy="348759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Right Arrow 50"/>
          <p:cNvSpPr/>
          <p:nvPr/>
        </p:nvSpPr>
        <p:spPr>
          <a:xfrm>
            <a:off x="13102876" y="5976761"/>
            <a:ext cx="399475" cy="324298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ight Arrow 51"/>
          <p:cNvSpPr/>
          <p:nvPr/>
        </p:nvSpPr>
        <p:spPr>
          <a:xfrm>
            <a:off x="15249342" y="5899912"/>
            <a:ext cx="400238" cy="374158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42339" y="9256132"/>
            <a:ext cx="112471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endParaRPr b="1" i="1" dirty="0">
              <a:solidFill>
                <a:srgbClr val="6E2AF5"/>
              </a:solidFill>
              <a:latin typeface="League Spartan"/>
            </a:endParaRPr>
          </a:p>
        </p:txBody>
      </p:sp>
      <p:sp>
        <p:nvSpPr>
          <p:cNvPr id="54" name="Rounded Rectangle 21">
            <a:extLst>
              <a:ext uri="{FF2B5EF4-FFF2-40B4-BE49-F238E27FC236}">
                <a16:creationId xmlns:a16="http://schemas.microsoft.com/office/drawing/2014/main" id="{861B3C4D-7EEC-6F97-F9FE-5A696CF33F52}"/>
              </a:ext>
            </a:extLst>
          </p:cNvPr>
          <p:cNvSpPr/>
          <p:nvPr/>
        </p:nvSpPr>
        <p:spPr>
          <a:xfrm>
            <a:off x="5703275" y="9015603"/>
            <a:ext cx="11556025" cy="9082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B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E4C26A-BC52-E84A-9629-58E849054F6F}"/>
              </a:ext>
            </a:extLst>
          </p:cNvPr>
          <p:cNvSpPr txBox="1"/>
          <p:nvPr/>
        </p:nvSpPr>
        <p:spPr>
          <a:xfrm>
            <a:off x="6128519" y="9159287"/>
            <a:ext cx="110906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dirty="0" err="1">
                <a:solidFill>
                  <a:srgbClr val="6E2AF5"/>
                </a:solidFill>
                <a:latin typeface="League Spartan"/>
              </a:rPr>
              <a:t>CanSat</a:t>
            </a:r>
            <a:r>
              <a:rPr lang="en-IN" sz="2100" b="1" dirty="0">
                <a:solidFill>
                  <a:srgbClr val="6E2AF5"/>
                </a:solidFill>
                <a:latin typeface="League Spartan"/>
              </a:rPr>
              <a:t> → Atmospheric Data → Real-Time Telemetry → Environmental &amp; Disaster Intelligence</a:t>
            </a:r>
          </a:p>
          <a:p>
            <a:pPr algn="ctr"/>
            <a:endParaRPr lang="en-IN" b="1" i="1" dirty="0">
              <a:solidFill>
                <a:srgbClr val="6E2AF5"/>
              </a:solidFill>
              <a:latin typeface="League Spartan"/>
            </a:endParaRPr>
          </a:p>
          <a:p>
            <a:endParaRPr lang="en-IN" dirty="0"/>
          </a:p>
        </p:txBody>
      </p:sp>
      <p:sp>
        <p:nvSpPr>
          <p:cNvPr id="58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47" t="-5733" r="-147202"/>
            </a:stretch>
          </a:blipFill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724" y="-122398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897487" y="440581"/>
            <a:ext cx="8078008" cy="77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Plan and </a:t>
            </a:r>
            <a:r>
              <a:rPr lang="en-US" sz="4500" dirty="0" err="1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Feasibilty</a:t>
            </a:r>
            <a:endParaRPr lang="en-US" sz="4500" dirty="0">
              <a:solidFill>
                <a:srgbClr val="632EC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71600" y="1499343"/>
            <a:ext cx="16443526" cy="54256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539325" y="1631752"/>
            <a:ext cx="5044440" cy="532194"/>
            <a:chOff x="0" y="-1"/>
            <a:chExt cx="6688227" cy="861895"/>
          </a:xfrm>
        </p:grpSpPr>
        <p:sp>
          <p:nvSpPr>
            <p:cNvPr id="10" name="AutoShape 10"/>
            <p:cNvSpPr/>
            <p:nvPr/>
          </p:nvSpPr>
          <p:spPr>
            <a:xfrm>
              <a:off x="211980" y="856272"/>
              <a:ext cx="5951998" cy="5449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 rot="5400000">
              <a:off x="-243645" y="331553"/>
              <a:ext cx="861895" cy="198788"/>
              <a:chOff x="0" y="0"/>
              <a:chExt cx="170251" cy="3926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0251" cy="39267"/>
              </a:xfrm>
              <a:custGeom>
                <a:avLst/>
                <a:gdLst/>
                <a:ahLst/>
                <a:cxnLst/>
                <a:rect l="l" t="t" r="r" b="b"/>
                <a:pathLst>
                  <a:path w="170251" h="39267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48733"/>
              <a:ext cx="6688227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Challenges and Mitigation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729614" y="4885147"/>
            <a:ext cx="13716000" cy="50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Economic Viability and </a:t>
            </a:r>
            <a:r>
              <a:rPr lang="en-US" sz="2700" b="1" dirty="0" err="1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Commercialisation</a:t>
            </a:r>
            <a:r>
              <a:rPr lang="en-US" sz="2700" b="1" dirty="0">
                <a:solidFill>
                  <a:srgbClr val="2F0D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Scalability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685800" y="9204050"/>
            <a:ext cx="5605049" cy="659649"/>
            <a:chOff x="0" y="-17639"/>
            <a:chExt cx="7473398" cy="879533"/>
          </a:xfrm>
        </p:grpSpPr>
        <p:sp>
          <p:nvSpPr>
            <p:cNvPr id="23" name="AutoShape 23"/>
            <p:cNvSpPr/>
            <p:nvPr/>
          </p:nvSpPr>
          <p:spPr>
            <a:xfrm>
              <a:off x="1521400" y="856272"/>
              <a:ext cx="5951998" cy="5449"/>
            </a:xfrm>
            <a:prstGeom prst="line">
              <a:avLst/>
            </a:prstGeom>
            <a:ln w="38100" cap="flat">
              <a:solidFill>
                <a:srgbClr val="CABAE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24" name="Group 24"/>
            <p:cNvGrpSpPr/>
            <p:nvPr/>
          </p:nvGrpSpPr>
          <p:grpSpPr>
            <a:xfrm rot="5400000">
              <a:off x="1177506" y="202184"/>
              <a:ext cx="879533" cy="439888"/>
              <a:chOff x="-3484" y="-47625"/>
              <a:chExt cx="173735" cy="8689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-3484" y="-17955"/>
                <a:ext cx="170251" cy="39267"/>
              </a:xfrm>
              <a:custGeom>
                <a:avLst/>
                <a:gdLst/>
                <a:ahLst/>
                <a:cxnLst/>
                <a:rect l="l" t="t" r="r" b="b"/>
                <a:pathLst>
                  <a:path w="170251" h="39267">
                    <a:moveTo>
                      <a:pt x="19633" y="0"/>
                    </a:moveTo>
                    <a:lnTo>
                      <a:pt x="150617" y="0"/>
                    </a:lnTo>
                    <a:cubicBezTo>
                      <a:pt x="155825" y="0"/>
                      <a:pt x="160818" y="2069"/>
                      <a:pt x="164500" y="5750"/>
                    </a:cubicBezTo>
                    <a:cubicBezTo>
                      <a:pt x="168182" y="9432"/>
                      <a:pt x="170251" y="14426"/>
                      <a:pt x="170251" y="19633"/>
                    </a:cubicBezTo>
                    <a:lnTo>
                      <a:pt x="170251" y="19633"/>
                    </a:lnTo>
                    <a:cubicBezTo>
                      <a:pt x="170251" y="30477"/>
                      <a:pt x="161461" y="39267"/>
                      <a:pt x="150617" y="39267"/>
                    </a:cubicBezTo>
                    <a:lnTo>
                      <a:pt x="19633" y="39267"/>
                    </a:lnTo>
                    <a:cubicBezTo>
                      <a:pt x="14426" y="39267"/>
                      <a:pt x="9432" y="37198"/>
                      <a:pt x="5750" y="33516"/>
                    </a:cubicBezTo>
                    <a:cubicBezTo>
                      <a:pt x="2069" y="29834"/>
                      <a:pt x="0" y="24841"/>
                      <a:pt x="0" y="19633"/>
                    </a:cubicBezTo>
                    <a:lnTo>
                      <a:pt x="0" y="19633"/>
                    </a:lnTo>
                    <a:cubicBezTo>
                      <a:pt x="0" y="14426"/>
                      <a:pt x="2069" y="9432"/>
                      <a:pt x="5750" y="5750"/>
                    </a:cubicBezTo>
                    <a:cubicBezTo>
                      <a:pt x="9432" y="2069"/>
                      <a:pt x="14426" y="0"/>
                      <a:pt x="19633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70251" cy="868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2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18897"/>
              <a:ext cx="6688227" cy="652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Future Scope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90401" y="2349190"/>
            <a:ext cx="868680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dirty="0">
                <a:solidFill>
                  <a:srgbClr val="2F0D8D"/>
                </a:solidFill>
                <a:latin typeface="League Spartan"/>
              </a:rPr>
              <a:t>CHALLENGES &amp;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7813" y="2295877"/>
            <a:ext cx="868680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dirty="0">
                <a:solidFill>
                  <a:srgbClr val="2F0D8D"/>
                </a:solidFill>
                <a:latin typeface="League Spartan"/>
              </a:rPr>
              <a:t>MITIGATION STRATEGIES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24912"/>
            <a:ext cx="8503920" cy="12700"/>
          </a:xfrm>
          <a:prstGeom prst="rect">
            <a:avLst/>
          </a:prstGeom>
          <a:solidFill>
            <a:srgbClr val="CAB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26880" y="2724912"/>
            <a:ext cx="8503920" cy="12700"/>
          </a:xfrm>
          <a:prstGeom prst="rect">
            <a:avLst/>
          </a:prstGeom>
          <a:solidFill>
            <a:srgbClr val="CAB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52560" y="2423160"/>
            <a:ext cx="12700" cy="1965960"/>
          </a:xfrm>
          <a:prstGeom prst="rect">
            <a:avLst/>
          </a:prstGeom>
          <a:solidFill>
            <a:srgbClr val="CAB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95206" y="2892329"/>
            <a:ext cx="2651760" cy="561735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League Spartan"/>
              </a:rPr>
              <a:t>GPS Signal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9011" y="2880955"/>
            <a:ext cx="539496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Temporary loss of GPS positioning.</a:t>
            </a:r>
          </a:p>
          <a:p>
            <a:pPr>
              <a:lnSpc>
                <a:spcPct val="100000"/>
              </a:lnSpc>
              <a:defRPr sz="1100">
                <a:solidFill>
                  <a:srgbClr val="484848"/>
                </a:solidFill>
                <a:latin typeface="Helvetica World"/>
              </a:defRPr>
            </a:pPr>
            <a:endParaRPr sz="1900" dirty="0"/>
          </a:p>
        </p:txBody>
      </p:sp>
      <p:sp>
        <p:nvSpPr>
          <p:cNvPr id="35" name="TextBox 34"/>
          <p:cNvSpPr txBox="1"/>
          <p:nvPr/>
        </p:nvSpPr>
        <p:spPr>
          <a:xfrm>
            <a:off x="9418320" y="2816352"/>
            <a:ext cx="832104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Flag invalid GPS data; continue sensor and IMU telemetry.</a:t>
            </a:r>
          </a:p>
          <a:p>
            <a:pPr>
              <a:lnSpc>
                <a:spcPct val="100000"/>
              </a:lnSpc>
              <a:defRPr sz="1100">
                <a:solidFill>
                  <a:srgbClr val="484848"/>
                </a:solidFill>
                <a:latin typeface="Helvetica World"/>
              </a:defRPr>
            </a:pPr>
            <a:endParaRPr sz="1900" dirty="0"/>
          </a:p>
        </p:txBody>
      </p:sp>
      <p:sp>
        <p:nvSpPr>
          <p:cNvPr id="36" name="Rounded Rectangle 35"/>
          <p:cNvSpPr/>
          <p:nvPr/>
        </p:nvSpPr>
        <p:spPr>
          <a:xfrm>
            <a:off x="195206" y="3515650"/>
            <a:ext cx="2704017" cy="708364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League Spartan"/>
              </a:rPr>
              <a:t>Radio Link Interruption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2283" y="3540404"/>
            <a:ext cx="539496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433 MHz signal dropouts or interference.</a:t>
            </a:r>
          </a:p>
          <a:p>
            <a:pPr>
              <a:lnSpc>
                <a:spcPct val="100000"/>
              </a:lnSpc>
              <a:defRPr sz="1100">
                <a:solidFill>
                  <a:srgbClr val="484848"/>
                </a:solidFill>
                <a:latin typeface="Helvetica World"/>
              </a:defRPr>
            </a:pPr>
            <a:endParaRPr sz="1900" dirty="0"/>
          </a:p>
        </p:txBody>
      </p:sp>
      <p:sp>
        <p:nvSpPr>
          <p:cNvPr id="38" name="TextBox 37"/>
          <p:cNvSpPr txBox="1"/>
          <p:nvPr/>
        </p:nvSpPr>
        <p:spPr>
          <a:xfrm>
            <a:off x="9397489" y="3440437"/>
            <a:ext cx="832104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Packet counters identify losses; transmission resumes after reconnection.</a:t>
            </a:r>
            <a:endParaRPr sz="1900" dirty="0"/>
          </a:p>
        </p:txBody>
      </p:sp>
      <p:sp>
        <p:nvSpPr>
          <p:cNvPr id="39" name="Rounded Rectangle 38"/>
          <p:cNvSpPr/>
          <p:nvPr/>
        </p:nvSpPr>
        <p:spPr>
          <a:xfrm>
            <a:off x="195206" y="4331988"/>
            <a:ext cx="2625216" cy="646422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900" b="1" dirty="0">
                <a:solidFill>
                  <a:srgbClr val="FFFFFF"/>
                </a:solidFill>
                <a:latin typeface="League Spartan"/>
              </a:rPr>
              <a:t>Power &amp; Sensor Reliability</a:t>
            </a:r>
            <a:endParaRPr sz="1900" b="1" dirty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39011" y="4218480"/>
            <a:ext cx="5394960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84848"/>
                </a:solidFill>
                <a:latin typeface="Helvetica World"/>
              </a:defRPr>
            </a:pPr>
            <a:r>
              <a:rPr lang="en-IN" sz="1900" dirty="0">
                <a:solidFill>
                  <a:srgbClr val="484848"/>
                </a:solidFill>
                <a:latin typeface="Helvetica World"/>
              </a:rPr>
              <a:t>• Voltage drops or sensor faults</a:t>
            </a:r>
            <a:r>
              <a:rPr lang="en-IN" sz="1100" dirty="0">
                <a:solidFill>
                  <a:srgbClr val="484848"/>
                </a:solidFill>
                <a:latin typeface="Helvetica World"/>
              </a:rPr>
              <a:t>.</a:t>
            </a:r>
          </a:p>
          <a:p>
            <a:pPr>
              <a:lnSpc>
                <a:spcPct val="100000"/>
              </a:lnSpc>
              <a:defRPr sz="1100">
                <a:solidFill>
                  <a:srgbClr val="484848"/>
                </a:solidFill>
                <a:latin typeface="Helvetica World"/>
              </a:defRPr>
            </a:pPr>
            <a:endParaRPr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9397489" y="4054307"/>
            <a:ext cx="83210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2100" dirty="0">
                <a:solidFill>
                  <a:srgbClr val="484848"/>
                </a:solidFill>
                <a:latin typeface="Helvetica World"/>
              </a:rPr>
              <a:t>•</a:t>
            </a:r>
            <a:r>
              <a:rPr lang="en-IN" sz="1900" dirty="0"/>
              <a:t>Log battery voltage; cross-check temperature and humidity readings.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0401" y="6280291"/>
            <a:ext cx="5394960" cy="2392248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slide7_icon_low_cost_platfo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25" y="5218453"/>
            <a:ext cx="908757" cy="908757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4" name="TextBox 43"/>
          <p:cNvSpPr txBox="1"/>
          <p:nvPr/>
        </p:nvSpPr>
        <p:spPr>
          <a:xfrm>
            <a:off x="1676682" y="5681926"/>
            <a:ext cx="434340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dirty="0">
                <a:solidFill>
                  <a:srgbClr val="2F0D8D"/>
                </a:solidFill>
                <a:latin typeface="League Spartan"/>
              </a:rPr>
              <a:t>Low-Cost Modular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782" y="7141627"/>
            <a:ext cx="49377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dirty="0"/>
              <a:t>Teensy 4.1 and off-the-shelf sensors. Build cost under ₹8,000.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9908" y="6267046"/>
            <a:ext cx="5452971" cy="2392248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lide7_icon_scalable_architec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123" y="5313512"/>
            <a:ext cx="908757" cy="850717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8" name="TextBox 47"/>
          <p:cNvSpPr txBox="1"/>
          <p:nvPr/>
        </p:nvSpPr>
        <p:spPr>
          <a:xfrm>
            <a:off x="7269480" y="5719124"/>
            <a:ext cx="434340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dirty="0">
                <a:solidFill>
                  <a:srgbClr val="2F0D8D"/>
                </a:solidFill>
                <a:latin typeface="League Spartan"/>
              </a:rPr>
              <a:t>Scalable &amp; Extensible Architecture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711" y="7108641"/>
            <a:ext cx="506262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dirty="0"/>
              <a:t>Modular I²C/UART interfaces enable additional sensors and dashboards.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955752" y="6315666"/>
            <a:ext cx="5671121" cy="2343627"/>
          </a:xfrm>
          <a:prstGeom prst="roundRect">
            <a:avLst/>
          </a:prstGeom>
          <a:solidFill>
            <a:srgbClr val="F0EAFB"/>
          </a:solidFill>
          <a:ln w="1905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slide7_icon_commercialisation_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4687" y="5348913"/>
            <a:ext cx="851956" cy="851956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52" name="TextBox 51"/>
          <p:cNvSpPr txBox="1"/>
          <p:nvPr/>
        </p:nvSpPr>
        <p:spPr>
          <a:xfrm>
            <a:off x="13101957" y="5725851"/>
            <a:ext cx="5134433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dirty="0" err="1">
                <a:solidFill>
                  <a:srgbClr val="2F0D8D"/>
                </a:solidFill>
                <a:latin typeface="League Spartan"/>
              </a:rPr>
              <a:t>Commercialisation</a:t>
            </a:r>
            <a:r>
              <a:rPr sz="1900" b="1" dirty="0">
                <a:solidFill>
                  <a:srgbClr val="2F0D8D"/>
                </a:solidFill>
                <a:latin typeface="League Spartan"/>
              </a:rPr>
              <a:t> &amp; Deployment Path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472520" y="7181482"/>
            <a:ext cx="49377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dirty="0"/>
              <a:t>Potential applications in agriculture, weather monitoring, and disaster response.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43040" y="9122291"/>
            <a:ext cx="2878013" cy="826129"/>
          </a:xfrm>
          <a:prstGeom prst="roundRect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League Spartan"/>
              </a:rPr>
              <a:t>Web Ground Dashboard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921053" y="9211948"/>
            <a:ext cx="797723" cy="538374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701553" y="9069241"/>
            <a:ext cx="2283126" cy="804229"/>
          </a:xfrm>
          <a:prstGeom prst="roundRect">
            <a:avLst/>
          </a:prstGeom>
          <a:solidFill>
            <a:srgbClr val="F0EAFB"/>
          </a:solidFill>
          <a:ln w="1524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2F0D8D"/>
                </a:solidFill>
                <a:latin typeface="League Spartan"/>
              </a:rPr>
              <a:t>Autonomous Event Detection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10984678" y="9199248"/>
            <a:ext cx="1090009" cy="551074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9" name="Rounded Rectangle 58"/>
          <p:cNvSpPr/>
          <p:nvPr/>
        </p:nvSpPr>
        <p:spPr>
          <a:xfrm>
            <a:off x="12074689" y="9069241"/>
            <a:ext cx="2697129" cy="778122"/>
          </a:xfrm>
          <a:prstGeom prst="roundRect">
            <a:avLst/>
          </a:prstGeom>
          <a:solidFill>
            <a:srgbClr val="F0EAFB"/>
          </a:solidFill>
          <a:ln w="1524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2F0D8D"/>
                </a:solidFill>
                <a:latin typeface="League Spartan"/>
              </a:rPr>
              <a:t>Sensor Fusion &amp; Estimation</a:t>
            </a:r>
          </a:p>
        </p:txBody>
      </p:sp>
      <p:sp>
        <p:nvSpPr>
          <p:cNvPr id="60" name="Right Arrow 59"/>
          <p:cNvSpPr/>
          <p:nvPr/>
        </p:nvSpPr>
        <p:spPr>
          <a:xfrm flipV="1">
            <a:off x="14785673" y="9184007"/>
            <a:ext cx="944820" cy="494642"/>
          </a:xfrm>
          <a:prstGeom prst="rightArrow">
            <a:avLst/>
          </a:prstGeom>
          <a:solidFill>
            <a:srgbClr val="6E2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Rounded Rectangle 60"/>
          <p:cNvSpPr/>
          <p:nvPr/>
        </p:nvSpPr>
        <p:spPr>
          <a:xfrm>
            <a:off x="15744348" y="9045237"/>
            <a:ext cx="2148840" cy="826129"/>
          </a:xfrm>
          <a:prstGeom prst="roundRect">
            <a:avLst/>
          </a:prstGeom>
          <a:solidFill>
            <a:srgbClr val="F0EAFB"/>
          </a:solidFill>
          <a:ln w="15240">
            <a:solidFill>
              <a:srgbClr val="6E2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2F0D8D"/>
                </a:solidFill>
                <a:latin typeface="League Spartan"/>
              </a:rPr>
              <a:t>Drone Payload Integration</a:t>
            </a:r>
          </a:p>
        </p:txBody>
      </p:sp>
      <p:sp>
        <p:nvSpPr>
          <p:cNvPr id="67" name="AutoShape 23">
            <a:extLst>
              <a:ext uri="{FF2B5EF4-FFF2-40B4-BE49-F238E27FC236}">
                <a16:creationId xmlns:a16="http://schemas.microsoft.com/office/drawing/2014/main" id="{C851BDBD-9D07-0891-F59D-DCA60A2E676E}"/>
              </a:ext>
            </a:extLst>
          </p:cNvPr>
          <p:cNvSpPr/>
          <p:nvPr/>
        </p:nvSpPr>
        <p:spPr>
          <a:xfrm flipV="1">
            <a:off x="2872366" y="4752082"/>
            <a:ext cx="15770510" cy="47036"/>
          </a:xfrm>
          <a:prstGeom prst="line">
            <a:avLst/>
          </a:prstGeom>
          <a:ln w="38100" cap="flat">
            <a:solidFill>
              <a:srgbClr val="CABAE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3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247" t="-5733" r="-147202"/>
            </a:stretch>
          </a:blipFill>
        </p:spPr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3678" y="-11430"/>
            <a:ext cx="18681678" cy="10531796"/>
          </a:xfrm>
          <a:custGeom>
            <a:avLst/>
            <a:gdLst/>
            <a:ahLst/>
            <a:cxnLst/>
            <a:rect l="l" t="t" r="r" b="b"/>
            <a:pathLst>
              <a:path w="18681678" h="10531796">
                <a:moveTo>
                  <a:pt x="0" y="0"/>
                </a:moveTo>
                <a:lnTo>
                  <a:pt x="18681678" y="0"/>
                </a:lnTo>
                <a:lnTo>
                  <a:pt x="18681678" y="10531796"/>
                </a:lnTo>
                <a:lnTo>
                  <a:pt x="0" y="1053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27302" y="456370"/>
            <a:ext cx="8078008" cy="77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632E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and References</a:t>
            </a:r>
          </a:p>
        </p:txBody>
      </p:sp>
      <p:sp>
        <p:nvSpPr>
          <p:cNvPr id="6" name="AutoShape 6"/>
          <p:cNvSpPr/>
          <p:nvPr/>
        </p:nvSpPr>
        <p:spPr>
          <a:xfrm>
            <a:off x="1028698" y="1630066"/>
            <a:ext cx="16717916" cy="32137"/>
          </a:xfrm>
          <a:prstGeom prst="line">
            <a:avLst/>
          </a:prstGeom>
          <a:ln w="50800" cap="flat">
            <a:solidFill>
              <a:srgbClr val="6E2A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Rectangle 21"/>
          <p:cNvSpPr/>
          <p:nvPr/>
        </p:nvSpPr>
        <p:spPr>
          <a:xfrm flipH="1">
            <a:off x="6793992" y="1691639"/>
            <a:ext cx="109728" cy="8796589"/>
          </a:xfrm>
          <a:prstGeom prst="rect">
            <a:avLst/>
          </a:prstGeom>
          <a:solidFill>
            <a:srgbClr val="CAB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6540" y="1979305"/>
            <a:ext cx="10789920" cy="1751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[1] Design of Trash Can Sized Satellite for Air Quality Monitoring at an Altitude of 300m Above Ground Level.</a:t>
            </a:r>
            <a:b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IN" sz="1900" b="1" dirty="0"/>
              <a:t>Summary</a:t>
            </a:r>
            <a:r>
              <a:rPr lang="en-IN" sz="1900" dirty="0"/>
              <a:t>: Presents a compact </a:t>
            </a:r>
            <a:r>
              <a:rPr lang="en-IN" sz="1900" dirty="0" err="1"/>
              <a:t>CanSat</a:t>
            </a:r>
            <a:r>
              <a:rPr lang="en-IN" sz="1900" dirty="0"/>
              <a:t> designed to monitor air quality at 300 m altitude, using LoRa telemetry, a parachute-based descent system, and a ground station for receiving sensor data. Highly relevant to </a:t>
            </a:r>
            <a:r>
              <a:rPr lang="en-IN" sz="1900" dirty="0" err="1"/>
              <a:t>CanSat</a:t>
            </a:r>
            <a:r>
              <a:rPr lang="en-IN" sz="1900" dirty="0"/>
              <a:t> hardware and communication architecture.</a:t>
            </a:r>
            <a:r>
              <a:rPr sz="1900" b="0" dirty="0">
                <a:solidFill>
                  <a:srgbClr val="484848"/>
                </a:solidFill>
                <a:latin typeface="Helvetica World"/>
              </a:rPr>
              <a:t>.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rgbClr val="6E2AF5"/>
                </a:solidFill>
                <a:latin typeface="Helvetica World"/>
              </a:rPr>
              <a:t>Link: </a:t>
            </a:r>
            <a:r>
              <a:rPr lang="en-IN" sz="1600" u="sng" dirty="0">
                <a:solidFill>
                  <a:srgbClr val="6E2AF5"/>
                </a:solidFill>
                <a:latin typeface="Helvetica World"/>
                <a:hlinkClick r:id="rId3"/>
              </a:rPr>
              <a:t>https://ieeexplore.ieee.org/document/10245113/</a:t>
            </a:r>
            <a:endParaRPr sz="1600" b="0" u="sng" dirty="0">
              <a:solidFill>
                <a:srgbClr val="6E2AF5"/>
              </a:solidFill>
              <a:latin typeface="Helvetica World"/>
              <a:hlinkClick r:id="rId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3840" y="4111910"/>
            <a:ext cx="10789920" cy="1708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1" i="1" dirty="0">
                <a:solidFill>
                  <a:schemeClr val="tx2">
                    <a:lumMod val="50000"/>
                  </a:schemeClr>
                </a:solidFill>
                <a:latin typeface="Helvetica World"/>
              </a:rPr>
              <a:t>[2] </a:t>
            </a:r>
            <a:r>
              <a:rPr lang="en-IN" sz="1900" b="1" i="1" dirty="0" err="1">
                <a:solidFill>
                  <a:schemeClr val="tx2">
                    <a:lumMod val="50000"/>
                  </a:schemeClr>
                </a:solidFill>
              </a:rPr>
              <a:t>Swayampakula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 et al., “Design and development of a </a:t>
            </a:r>
            <a:r>
              <a:rPr lang="en-IN" sz="1900" b="1" i="1" dirty="0" err="1">
                <a:solidFill>
                  <a:schemeClr val="tx2">
                    <a:lumMod val="50000"/>
                  </a:schemeClr>
                </a:solidFill>
              </a:rPr>
              <a:t>CanSat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 for air pollution monitoring with RSSI based position retrieval system,” Advances in Space Research, Vol. 75, Issue 9, 2025</a:t>
            </a:r>
            <a:r>
              <a:rPr lang="en-IN" sz="1600" b="1" i="1" dirty="0">
                <a:solidFill>
                  <a:schemeClr val="tx2">
                    <a:lumMod val="50000"/>
                  </a:schemeClr>
                </a:solidFill>
              </a:rPr>
              <a:t>.</a:t>
            </a:r>
            <a:r>
              <a:rPr lang="en-IN" sz="1600" dirty="0"/>
              <a:t/>
            </a:r>
            <a:br>
              <a:rPr lang="en-IN" sz="1600" dirty="0"/>
            </a:br>
            <a:r>
              <a:rPr sz="1600" b="1" dirty="0">
                <a:solidFill>
                  <a:srgbClr val="484848"/>
                </a:solidFill>
                <a:latin typeface="Helvetica World"/>
              </a:rPr>
              <a:t>Summary:</a:t>
            </a:r>
            <a:r>
              <a:rPr sz="1900" b="1" dirty="0">
                <a:solidFill>
                  <a:srgbClr val="484848"/>
                </a:solidFill>
                <a:latin typeface="Helvetica World"/>
              </a:rPr>
              <a:t> </a:t>
            </a:r>
            <a:r>
              <a:rPr lang="en-IN" sz="1900" dirty="0"/>
              <a:t>Describes a lightweight </a:t>
            </a:r>
            <a:r>
              <a:rPr lang="en-IN" sz="1900" dirty="0" err="1"/>
              <a:t>CanSat</a:t>
            </a:r>
            <a:r>
              <a:rPr lang="en-IN" sz="1900" dirty="0"/>
              <a:t> for atmospheric and air-pollution monitoring using temperature, humidity, and gas sensors. Covers telemetry, position retrieval using received signal strength (RSSI), power conservation, and parachute-based descent.</a:t>
            </a:r>
            <a:r>
              <a:rPr sz="1600" b="1" dirty="0">
                <a:solidFill>
                  <a:srgbClr val="6E2AF5"/>
                </a:solidFill>
                <a:latin typeface="Helvetica World"/>
              </a:rPr>
              <a:t>Link: </a:t>
            </a:r>
            <a:r>
              <a:rPr lang="en-IN" sz="1600" u="sng" dirty="0">
                <a:solidFill>
                  <a:srgbClr val="6E2AF5"/>
                </a:solidFill>
                <a:latin typeface="Helvetica World"/>
                <a:hlinkClick r:id="rId4"/>
              </a:rPr>
              <a:t>https://www.sciencedirect.com/science/article/pii/S0273117724001856?via%3Dihub</a:t>
            </a:r>
            <a:endParaRPr sz="1600" b="0" u="sng" dirty="0">
              <a:solidFill>
                <a:srgbClr val="6E2AF5"/>
              </a:solidFill>
              <a:latin typeface="Helvetica World"/>
              <a:hlinkClick r:id="rId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16540" y="6488850"/>
            <a:ext cx="10789920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1" i="1" dirty="0">
                <a:solidFill>
                  <a:srgbClr val="2F0D8D"/>
                </a:solidFill>
                <a:latin typeface="Helvetica World"/>
              </a:rPr>
              <a:t>[3] 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N. Sako et al., “</a:t>
            </a:r>
            <a:r>
              <a:rPr lang="en-IN" sz="1900" b="1" i="1" dirty="0" err="1">
                <a:solidFill>
                  <a:schemeClr val="tx2">
                    <a:lumMod val="50000"/>
                  </a:schemeClr>
                </a:solidFill>
              </a:rPr>
              <a:t>CanSat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 suborbital launch experiment—university educational space program using can sized pico-satellite,” Acta </a:t>
            </a:r>
            <a:r>
              <a:rPr lang="en-IN" sz="1900" b="1" i="1" dirty="0" err="1">
                <a:solidFill>
                  <a:schemeClr val="tx2">
                    <a:lumMod val="50000"/>
                  </a:schemeClr>
                </a:solidFill>
              </a:rPr>
              <a:t>Astronautica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, Vol. 48, Issues 5–12, pp. 767–776, 2001</a:t>
            </a:r>
            <a:r>
              <a:rPr lang="en-IN" sz="1900" b="1" dirty="0">
                <a:solidFill>
                  <a:schemeClr val="tx2">
                    <a:lumMod val="50000"/>
                  </a:schemeClr>
                </a:solidFill>
              </a:rPr>
              <a:t>.</a:t>
            </a:r>
            <a:r>
              <a:rPr lang="en-IN" sz="1600" dirty="0"/>
              <a:t>.</a:t>
            </a:r>
            <a:r>
              <a:rPr sz="1600" b="1" dirty="0">
                <a:solidFill>
                  <a:srgbClr val="6E2AF5"/>
                </a:solidFill>
                <a:latin typeface="Helvetica World"/>
              </a:rPr>
              <a:t> </a:t>
            </a:r>
            <a:r>
              <a:rPr lang="en-US" sz="1600" b="1" dirty="0">
                <a:solidFill>
                  <a:srgbClr val="484848"/>
                </a:solidFill>
                <a:latin typeface="Helvetica World"/>
              </a:rPr>
              <a:t>Summary: </a:t>
            </a:r>
            <a:r>
              <a:rPr lang="en-US" sz="1600" dirty="0"/>
              <a:t>Presents the design, objectives, suborbital launch experiments, and lessons learned from a can-sized pico-satellite project. Useful for explaining </a:t>
            </a:r>
            <a:r>
              <a:rPr lang="en-US" sz="1600" dirty="0" err="1"/>
              <a:t>CanSat</a:t>
            </a:r>
            <a:r>
              <a:rPr lang="en-US" sz="1600" dirty="0"/>
              <a:t> mission design, deployment, and experimental validation.</a:t>
            </a:r>
            <a:br>
              <a:rPr lang="en-US" sz="1600" dirty="0"/>
            </a:br>
            <a:r>
              <a:rPr lang="en-IN" sz="1600" b="1" dirty="0">
                <a:solidFill>
                  <a:srgbClr val="6E2AF5"/>
                </a:solidFill>
                <a:latin typeface="Helvetica World"/>
              </a:rPr>
              <a:t>Link: </a:t>
            </a:r>
            <a:r>
              <a:rPr lang="en-IN" sz="1600" u="sng" dirty="0">
                <a:solidFill>
                  <a:srgbClr val="6E2AF5"/>
                </a:solidFill>
                <a:latin typeface="Helvetica World"/>
              </a:rPr>
              <a:t>https://linkinghub.elsevier.com/retrieve/pii/S009457650100039X</a:t>
            </a:r>
            <a:endParaRPr sz="1600" b="0" u="sng" dirty="0">
              <a:solidFill>
                <a:srgbClr val="6E2AF5"/>
              </a:solidFill>
              <a:latin typeface="Helvetica World"/>
              <a:hlinkClick r:id="rId5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0" y="8176114"/>
            <a:ext cx="10789920" cy="1751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900" b="1" i="1" dirty="0">
                <a:solidFill>
                  <a:schemeClr val="tx2">
                    <a:lumMod val="50000"/>
                  </a:schemeClr>
                </a:solidFill>
                <a:latin typeface="Helvetica World"/>
              </a:rPr>
              <a:t>[4] 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“A pico-satellite assembled and tested during the 6th </a:t>
            </a:r>
            <a:r>
              <a:rPr lang="en-IN" sz="1900" b="1" i="1" dirty="0" err="1">
                <a:solidFill>
                  <a:schemeClr val="tx2">
                    <a:lumMod val="50000"/>
                  </a:schemeClr>
                </a:solidFill>
              </a:rPr>
              <a:t>CanSat</a:t>
            </a:r>
            <a:r>
              <a:rPr lang="en-IN" sz="1900" b="1" i="1" dirty="0">
                <a:solidFill>
                  <a:schemeClr val="tx2">
                    <a:lumMod val="50000"/>
                  </a:schemeClr>
                </a:solidFill>
              </a:rPr>
              <a:t> Leader Training Program,” Journal of Applied Research and Technology, Vol. 15, Issue 1, pp. 83–91, 2017. </a:t>
            </a:r>
            <a:r>
              <a:rPr sz="1900" b="1" dirty="0">
                <a:solidFill>
                  <a:srgbClr val="484848"/>
                </a:solidFill>
                <a:latin typeface="Helvetica World"/>
              </a:rPr>
              <a:t>Summary: </a:t>
            </a:r>
            <a:r>
              <a:rPr lang="en-IN" sz="1900" dirty="0"/>
              <a:t>Describes the construction and testing of a small satellite carrying temperature and humidity sensors. Includes GPS-based position data and atmospheric measurements during flight, making it useful for sensor integration and experimental testing.</a:t>
            </a:r>
            <a:endParaRPr sz="1900" b="0" dirty="0">
              <a:solidFill>
                <a:srgbClr val="484848"/>
              </a:solidFill>
              <a:latin typeface="Helvetica World"/>
            </a:endParaRP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rgbClr val="6E2AF5"/>
                </a:solidFill>
                <a:latin typeface="Helvetica World"/>
              </a:rPr>
              <a:t>Link: </a:t>
            </a:r>
            <a:r>
              <a:rPr lang="en-IN" sz="1600" u="sng" dirty="0">
                <a:solidFill>
                  <a:srgbClr val="6E2AF5"/>
                </a:solidFill>
                <a:latin typeface="Helvetica World"/>
                <a:hlinkClick r:id="rId6"/>
              </a:rPr>
              <a:t>https://doi.org/10.1016/j.jart.2016.10.003</a:t>
            </a:r>
            <a:endParaRPr sz="1600" b="0" u="sng" dirty="0">
              <a:solidFill>
                <a:srgbClr val="6E2AF5"/>
              </a:solidFill>
              <a:latin typeface="Helvetica World"/>
              <a:hlinkClick r:id="rId6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A858B6A-0C39-2345-4B6E-D4A043AF88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920" y="2057158"/>
            <a:ext cx="3811947" cy="6152805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8" name="TextBox 7"/>
          <p:cNvSpPr txBox="1"/>
          <p:nvPr/>
        </p:nvSpPr>
        <p:spPr>
          <a:xfrm>
            <a:off x="1041430" y="9086671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Videos: </a:t>
            </a:r>
            <a:r>
              <a:rPr lang="en-IN">
                <a:hlinkClick r:id="rId8"/>
              </a:rPr>
              <a:t>https://drive.google.com/drive/folders/12sinTi2cqTp08u40LJMLwo98TNp7EeID</a:t>
            </a:r>
            <a:endParaRPr lang="en-IN"/>
          </a:p>
          <a:p>
            <a:endParaRPr lang="en-US"/>
          </a:p>
        </p:txBody>
      </p:sp>
      <p:sp>
        <p:nvSpPr>
          <p:cNvPr id="17" name="Freeform 7"/>
          <p:cNvSpPr/>
          <p:nvPr/>
        </p:nvSpPr>
        <p:spPr>
          <a:xfrm>
            <a:off x="16934688" y="159478"/>
            <a:ext cx="925524" cy="963762"/>
          </a:xfrm>
          <a:custGeom>
            <a:avLst/>
            <a:gdLst/>
            <a:ahLst/>
            <a:cxnLst/>
            <a:rect l="l" t="t" r="r" b="b"/>
            <a:pathLst>
              <a:path w="925524" h="963762">
                <a:moveTo>
                  <a:pt x="0" y="0"/>
                </a:moveTo>
                <a:lnTo>
                  <a:pt x="925524" y="0"/>
                </a:lnTo>
                <a:lnTo>
                  <a:pt x="925524" y="963763"/>
                </a:lnTo>
                <a:lnTo>
                  <a:pt x="0" y="9637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247" t="-5733" r="-147202"/>
            </a:stretch>
          </a:blipFill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10039" y="118546"/>
            <a:ext cx="1312582" cy="13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1182</Words>
  <Application>Microsoft Office PowerPoint</Application>
  <PresentationFormat>Custom</PresentationFormat>
  <Paragraphs>160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Helvetica World Bold</vt:lpstr>
      <vt:lpstr>Helvetica World</vt:lpstr>
      <vt:lpstr>Calibri (MS) Bold Italics</vt:lpstr>
      <vt:lpstr>League Spartan</vt:lpstr>
      <vt:lpstr>Calibri</vt:lpstr>
      <vt:lpstr>Instrument Serif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Incubex ppt format Prototype</dc:title>
  <dc:creator>Manjiri</dc:creator>
  <cp:lastModifiedBy>ASUS</cp:lastModifiedBy>
  <cp:revision>40</cp:revision>
  <dcterms:created xsi:type="dcterms:W3CDTF">2006-08-16T00:00:00Z</dcterms:created>
  <dcterms:modified xsi:type="dcterms:W3CDTF">2026-10-11T08:37:12Z</dcterms:modified>
  <dc:identifier>DAHXOv2nHPk</dc:identifier>
</cp:coreProperties>
</file>